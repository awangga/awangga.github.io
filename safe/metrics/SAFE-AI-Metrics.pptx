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5000" b="1">
                <a:solidFill>
                  <a:srgbClr val="818CF8"/>
                </a:solidFill>
                <a:latin typeface="Calibri"/>
              </a:rPr>
              <a:t>METRIK SAFE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F1F5F9"/>
                </a:solidFill>
                <a:latin typeface="Calibri"/>
              </a:rPr>
              <a:t>Mengukur Secure, Accountable, Fair &amp; Explainable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C7D2FE"/>
                </a:solidFill>
                <a:latin typeface="Calibri"/>
              </a:rPr>
              <a:t>pada Self-Supervised Learning &amp; Transformer/LLM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4069080"/>
            <a:ext cx="2286000" cy="18288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Calibri"/>
              </a:rPr>
              <a:t>Telaah 3 paper kunci  ·  Trend Terkini Kecerdasan Mesin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SoFCLR (2024)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DecodingTrust (NeurIPS'23)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02920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HELM (TMLR'23)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PENGANTAR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Kenapa Butuh Metrik SAFE?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SAFE = </a:t>
            </a:r>
            <a:r>
              <a:rPr sz="1600" b="1">
                <a:solidFill>
                  <a:srgbClr val="F43F5E"/>
                </a:solidFill>
                <a:latin typeface="Calibri"/>
              </a:rPr>
              <a:t>S</a:t>
            </a:r>
            <a:r>
              <a:rPr sz="1600" b="0">
                <a:solidFill>
                  <a:srgbClr val="94A3B8"/>
                </a:solidFill>
                <a:latin typeface="Calibri"/>
              </a:rPr>
              <a:t>ecure  ·  </a:t>
            </a:r>
            <a:r>
              <a:rPr sz="1600" b="1">
                <a:solidFill>
                  <a:srgbClr val="60A5FA"/>
                </a:solidFill>
                <a:latin typeface="Calibri"/>
              </a:rPr>
              <a:t>A</a:t>
            </a:r>
            <a:r>
              <a:rPr sz="1600" b="0">
                <a:solidFill>
                  <a:srgbClr val="94A3B8"/>
                </a:solidFill>
                <a:latin typeface="Calibri"/>
              </a:rPr>
              <a:t>ccountable  ·  </a:t>
            </a:r>
            <a:r>
              <a:rPr sz="1600" b="1">
                <a:solidFill>
                  <a:srgbClr val="34D399"/>
                </a:solidFill>
                <a:latin typeface="Calibri"/>
              </a:rPr>
              <a:t>F</a:t>
            </a:r>
            <a:r>
              <a:rPr sz="1600" b="0">
                <a:solidFill>
                  <a:srgbClr val="94A3B8"/>
                </a:solidFill>
                <a:latin typeface="Calibri"/>
              </a:rPr>
              <a:t>air  ·  </a:t>
            </a:r>
            <a:r>
              <a:rPr sz="1600" b="1">
                <a:solidFill>
                  <a:srgbClr val="FBBF24"/>
                </a:solidFill>
                <a:latin typeface="Calibri"/>
              </a:rPr>
              <a:t>E</a:t>
            </a:r>
            <a:r>
              <a:rPr sz="1600" b="0">
                <a:solidFill>
                  <a:srgbClr val="94A3B8"/>
                </a:solidFill>
                <a:latin typeface="Calibri"/>
              </a:rPr>
              <a:t>xplainable</a:t>
            </a:r>
            <a:r>
              <a:rPr sz="1600" b="0">
                <a:solidFill>
                  <a:srgbClr val="94A3B8"/>
                </a:solidFill>
                <a:latin typeface="Calibri"/>
              </a:rPr>
              <a:t>.  Empat dimensi ini hanya bermakna jika bisa </a:t>
            </a:r>
            <a:r>
              <a:rPr sz="1600" b="1">
                <a:solidFill>
                  <a:srgbClr val="C7D2FE"/>
                </a:solidFill>
                <a:latin typeface="Calibri"/>
              </a:rPr>
              <a:t>diukur dengan angka</a:t>
            </a:r>
            <a:r>
              <a:rPr sz="160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43F5E"/>
                </a:solidFill>
                <a:latin typeface="Calibri"/>
              </a:rP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Secure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Attack Success Rate (ASR),
certified accuracy, robust acc.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28416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60A5FA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Accountable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Audit trail, model card,
ethics &amp; toxicity score.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8192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34D399"/>
                </a:solidFill>
                <a:latin typeface="Calibri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Fair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Demographic parity,
equalized odds, base-rate parity.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87967" y="2468880"/>
            <a:ext cx="2679192" cy="2377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7" y="265176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FBBF24"/>
                </a:solidFill>
                <a:latin typeface="Calibri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7" y="32918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Explainable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7" y="3749039"/>
            <a:ext cx="2286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Faithfulness, plausibility,
korelasi dgn SHAP/LIME.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solidFill>
            <a:srgbClr val="13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Masalahnya: </a:t>
            </a:r>
            <a:r>
              <a:rPr sz="1400" b="0">
                <a:solidFill>
                  <a:srgbClr val="F1F5F9"/>
                </a:solidFill>
                <a:latin typeface="Calibri"/>
              </a:rPr>
              <a:t>metrik klasik mengandaikan model dengan label dan output yang jelas. SSL belajar tanpa label, dan LLM mengeluarkan teks bebas. Ketiga paper berikut menjawab bagaimana cara mengukurnya.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BENANG MERAH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Bagaimana Ketiga Paper Terhubung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1091672" cy="868680"/>
          </a:xfrm>
          <a:prstGeom prst="rect">
            <a:avLst/>
          </a:prstGeom>
          <a:solidFill>
            <a:srgbClr val="13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607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Pertanyaan bersama:  </a:t>
            </a:r>
            <a:r>
              <a:rPr sz="1400" b="0">
                <a:solidFill>
                  <a:srgbClr val="F1F5F9"/>
                </a:solidFill>
                <a:latin typeface="Calibri"/>
              </a:rPr>
              <a:t>bagaimana dimensi SAFE ditegakkan, lalu diukur, pada model nyata?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3593592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59" y="269748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69748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SAAT MELATIH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SoFCLR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74903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Bangun model fair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16052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Menanam fairness ke representasi SSL sejak awal, sebelum label ada (intervensi by-design).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2232" y="2468880"/>
            <a:ext cx="118872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1103" y="2468880"/>
            <a:ext cx="3593592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5423" y="269748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3" y="269748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UJI MENDALAM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3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DecodingTrust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374903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Cari titik rapuh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3" y="416052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Stress-test LLM dengan serangan &amp; prompt adversarial pada 8 perspektif trustworthiness.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4696" y="2468880"/>
            <a:ext cx="118872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64748B"/>
                </a:solidFill>
                <a:latin typeface="Calibri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2468880"/>
            <a:ext cx="3593592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47888" y="2697480"/>
            <a:ext cx="274320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2697480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UJI MENYELURUH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32461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F1F5F9"/>
                </a:solidFill>
                <a:latin typeface="Calibri"/>
              </a:rPr>
              <a:t>HELM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374903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Bandingkan terbuka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416052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Benchmark terstandar 7 metrik lintas 30 model agar bisa dibandingkan secara transparan.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11091672" cy="1051560"/>
          </a:xfrm>
          <a:prstGeom prst="rect">
            <a:avLst/>
          </a:prstGeom>
          <a:solidFill>
            <a:srgbClr val="13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166360"/>
            <a:ext cx="10607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F1F5F9"/>
                </a:solidFill>
                <a:latin typeface="Calibri"/>
              </a:rPr>
              <a:t>SoFCLR menegakkan SAFE saat model dilatih; DecodingTrust dan HELM mengukurnya setelah model jadi. Ketiganya menutup alur </a:t>
            </a:r>
            <a:r>
              <a:rPr sz="1350" b="1">
                <a:solidFill>
                  <a:srgbClr val="C7D2FE"/>
                </a:solidFill>
                <a:latin typeface="Calibri"/>
              </a:rPr>
              <a:t>bangun, uji, dan bandingkan</a:t>
            </a:r>
            <a:r>
              <a:rPr sz="1350" b="0">
                <a:solidFill>
                  <a:srgbClr val="F1F5F9"/>
                </a:solidFill>
                <a:latin typeface="Calibri"/>
              </a:rPr>
              <a:t> model yang SAFE.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Paper yang Dipakai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SoFCLR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SSL / Contrastive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
arXiv:2406.05686 ·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Bagaimana mengukur &amp; memperbaiki FAIRNESS pada representasi yang dipelajari tanpa label.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3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3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43F5E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3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DecodingTrust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3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Transformer / 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Wang et al.
NeurIPS 2023 (Outstanding)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3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3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Benchmark 8 perspektif kepercayaan LLM: robustness, privasi, bias, fairness, etika.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1463040"/>
            <a:ext cx="3593592" cy="466344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164592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60A5FA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33172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1">
                <a:solidFill>
                  <a:srgbClr val="F1F5F9"/>
                </a:solidFill>
                <a:latin typeface="Calibri"/>
              </a:rPr>
              <a:t>HELM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2880360"/>
            <a:ext cx="2377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Transformer / LLM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34747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Liang, Bommasani, Lee et al.
TMLR 2023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4343400"/>
            <a:ext cx="304495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7888" y="4526280"/>
            <a:ext cx="3108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Evaluasi holistik: 7 metrik diukur serempak pada 16 skenario inti.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SSL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SoFCLR: Fairness Tanpa Label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Provable Optimization for Adversarial Fair Self-supervised Contrastive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Qi, Hu, Lin &amp; Yang (2024) · arXiv:2406.05686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Masalah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Contrastive learning (SimCLR dll.) belajar dari data tanpa label. Representasinya bisa diam-diam menyimpan bias (gender, ras). Fairness sulit diukur karena tidak ada label.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48640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0060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Adversarial fair representation learning: minimkan contrastive loss pada data tak berlabel, sambil maksimalkan loss penebak atribut sensitif pada sedikit data berlabel (minimax game).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2377440"/>
            <a:ext cx="5394960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5146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Metrik (dimensi Fair)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9718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Dievaluasi dengan 8 notasi fairness pada klasifikasi downstream, mis. </a:t>
            </a:r>
            <a:r>
              <a:rPr sz="1250" b="1">
                <a:solidFill>
                  <a:srgbClr val="F1F5F9"/>
                </a:solidFill>
                <a:latin typeface="Calibri"/>
              </a:rPr>
              <a:t>demographic parity</a:t>
            </a:r>
            <a:r>
              <a:rPr sz="1250" b="0">
                <a:solidFill>
                  <a:srgbClr val="94A3B8"/>
                </a:solidFill>
                <a:latin typeface="Calibri"/>
              </a:rPr>
              <a:t> &amp; </a:t>
            </a:r>
            <a:r>
              <a:rPr sz="1250" b="1">
                <a:solidFill>
                  <a:srgbClr val="F1F5F9"/>
                </a:solidFill>
                <a:latin typeface="Calibri"/>
              </a:rPr>
              <a:t>equalized odds</a:t>
            </a:r>
            <a:r>
              <a:rPr sz="1250" b="0">
                <a:solidFill>
                  <a:srgbClr val="94A3B8"/>
                </a:solidFill>
                <a:latin typeface="Calibri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352" y="4206240"/>
            <a:ext cx="5394960" cy="169164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43434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Kontribusi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80060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Algoritma stokastik dengan jaminan konvergensi </a:t>
            </a:r>
            <a:r>
              <a:rPr sz="1250" b="1">
                <a:solidFill>
                  <a:srgbClr val="F1F5F9"/>
                </a:solidFill>
                <a:latin typeface="Calibri"/>
              </a:rPr>
              <a:t>tanpa perlu batch besar</a:t>
            </a:r>
            <a:r>
              <a:rPr sz="1250" b="0">
                <a:solidFill>
                  <a:srgbClr val="94A3B8"/>
                </a:solidFill>
                <a:latin typeface="Calibri"/>
              </a:rPr>
              <a:t>, menyiasati global contrastive loss yang mahal.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ALGORITMA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Cara Kerja SoFCLR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SoFCLR = Stochastic Optimization for Fair Contrastive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828800"/>
            <a:ext cx="9601200" cy="10972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182880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2300" b="1">
                <a:solidFill>
                  <a:srgbClr val="34D399"/>
                </a:solidFill>
                <a:latin typeface="Calibri"/>
              </a:rPr>
              <a:t>F(w, w′)  =  F_GCL(w)  +  α · F_fair(w, w′)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minimalkan terhadap encoder w  ·  maksimalkan terhadap discriminator w′  ·  α = bobot trade-off (fairness ↔ akurasi)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Suku F_GCL  (representasi)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0624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Global contrastive loss: tarik dua augmentasi gambar yang sama agar berdekatan, dorong menjauh dari semua sampel lain. Menjaga representasi tetap kaya dan informatif.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356616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7033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Suku F_fair  (fairness)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420624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Discriminator berusaha menebak atribut sensitif (mis. gender) dari representasi. Encoder dilatih agar discriminator </a:t>
            </a:r>
            <a:r>
              <a:rPr sz="1300" b="1">
                <a:solidFill>
                  <a:srgbClr val="F1F5F9"/>
                </a:solidFill>
                <a:latin typeface="Calibri"/>
              </a:rPr>
              <a:t>gagal</a:t>
            </a:r>
            <a:r>
              <a:rPr sz="1300" b="0">
                <a:solidFill>
                  <a:srgbClr val="94A3B8"/>
                </a:solidFill>
                <a:latin typeface="Calibri"/>
              </a:rPr>
              <a:t>, sehingga representasi tidak membawa informasi sensitif.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ALGORITMA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 per Iterasi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6400800" cy="4617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Langkah tiap iterasi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03120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Ambil 1 batch data tak berlabel + 1 batch kecil yang berlabel atribut sensitif.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71215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71215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Buat 2 augmentasi tiap sampel; perbarui moving-average u (estimator suku contrastive).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639311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639311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Hitung gradien dari nilai u, lalu haluskan dengan momentum.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07407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Encoder turun gradien:   w ← w − η · 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75503"/>
            <a:ext cx="457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34D399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75503"/>
            <a:ext cx="5349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Discriminator naik gradien:   w′ ← w′ + η′ · 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1463040"/>
            <a:ext cx="4507992" cy="22402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6276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F1F5F9"/>
                </a:solidFill>
                <a:latin typeface="Calibri"/>
              </a:rPr>
              <a:t>Kenapa pakai moving-average 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0312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Minibatch untuk contrastive bersifat bias karena tiap anchor seharusnya dibandingkan dengan seluruh dataset. Vektor u melacak nilai itu lintas iterasi sehingga error mengecil, tanpa perlu batch raksasa seperti SimCLR.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3840480"/>
            <a:ext cx="4507992" cy="22402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400507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Jaminan konvergensi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alibri"/>
              </a:rPr>
              <a:t>Terbukti mencapai titik ε-stationary dalam O(ε⁻⁴) iterasi: setara SGD untuk optimisasi non-convex, dan tanpa syarat batch besar.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INTI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Tantangan Khas Fairness di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Tanpa label downstream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Fairness biasanya butuh label kelas + atribut sensitif. SSL pra-latih tanpa keduanya, jadi metrik fairness harus dirancang ulang untuk tahap representasi.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63239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24612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Optimisasi sulit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Minimax-nya non-convex non-concave, diperberat global contrastive loss yang membandingkan tiap sampel dengan semua sampel lain. SoFCLR memberi solusi terbukti (provable).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8229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34D399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54880"/>
            <a:ext cx="96926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1F5F9"/>
                </a:solidFill>
                <a:latin typeface="Calibri"/>
              </a:rPr>
              <a:t>Bukan otomatis adil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Penulis menegaskan SSL tidak inheren adil; pra-pelatihan tetap dapat menyimpan bias bila tidak diberi sinyal fairness eksplisit.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PAPER 1 ·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SoFCLR: Ringkasan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METODE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Minimax game: min encoder, max discriminator atas F_GCL + α·F_fair.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Global contrastive loss diestimasi lewat moving-average u + momentum.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KONTRIBUSI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Algoritma fair-SSL pertama dengan konvergensi terbukti O(ε⁻⁴), tanpa batch besar.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Cukup label atribut sensitif pada sebagian kecil data.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Tak mengubah contrastive loss, kompatibel dengan SimCLR/CLIP.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HASIL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Dataset CelebA &amp; UTKFace (citra wajah), diukur 8 fairness notions.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CelebA (Attractive×Male): Δ_ED 14,93 vs SimCLR 26,58 (lebih adil).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UTKFace: Δ_ED 15,42 (~20% lebih baik dari SimCLR), akurasi tetap ~85%.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FUTURE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perluasan ke data multi-modality.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(Inferensi) atribut sensitif lain &amp; penyetelan trade-off 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PAPER 2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DecodingTrust: 8 Perspektif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A Comprehensive Assessment of Trustworthiness in GPT Models  ·  Wang et al., NeurIPS 2023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02920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6032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Adversarial robustness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7180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OOD robustness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8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8328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Adv. demonstrations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94760"/>
            <a:ext cx="109728" cy="29260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4760"/>
            <a:ext cx="4297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Privacy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6712" y="1920240"/>
            <a:ext cx="3017520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25312" y="20574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312" y="256032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256032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Stereotype bias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25312" y="2971800"/>
            <a:ext cx="109728" cy="2926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3912" y="2971800"/>
            <a:ext cx="2286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Fairness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33104" y="1920240"/>
            <a:ext cx="3044952" cy="228600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61704" y="2057400"/>
            <a:ext cx="25877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1704" y="256032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0304" y="256032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Machine ethics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61704" y="2971800"/>
            <a:ext cx="109728" cy="2926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0304" y="2971800"/>
            <a:ext cx="23134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1F5F9"/>
                </a:solidFill>
                <a:latin typeface="Calibri"/>
              </a:rPr>
              <a:t>Toxicity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Calibri"/>
              </a:rPr>
              <a:t>Metrik konkret.  </a:t>
            </a:r>
            <a:r>
              <a:rPr sz="1350" b="0">
                <a:solidFill>
                  <a:srgbClr val="F1F5F9"/>
                </a:solidFill>
                <a:latin typeface="Calibri"/>
              </a:rPr>
              <a:t>Robustness diuji dengan benchmark AdvGLUE / AdvGLUE++ (serangan TextFooler, SemAttack, BERT-ATTACK). Attack Success Rate mencapai 89,2% pada GPT-4 (kasus transfer terbaik).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Fairness diukur lewat base-rate parity antar kelompok demografi, dan menemukan trade-off akurasi-fairness: GPT-4 lebih akurat pada data seimbang, tapi lebih tidak adil pada data timpang.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PAPER 2 ·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DecodingTrust: Ringkasan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METODE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Uji GPT-3.5 &amp; GPT-4 pada 8 perspektif trustworthiness.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Benchmark standar (AdvGLUE, RealToxicityPrompts, ETHICS) + baru (AdvGLUE++).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Skenario zero/few-shot + adversarial prompt &amp; backdoored demo.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KONTRIBUSI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Framework 8 perspektif yang menyesuaikan kemampuan baru GPT (instruction following).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Mengungkap gap: GPT-4 lebih baik di benchmark standar, lebih rentan jailbreak.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Benchmark + dataset dirilis open-source.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HASIL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Jailbreak prompt: toxicity melonjak hingga ~100%.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AdvGLUE++: SemAttack 89,2% ASR (GPT-4); BERT-ATTACK 100% (GPT-3.5).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Privacy: ekstraksi email 100× lebih akurat bila domain diketahui.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Fairness: GPT-4 lebih akurat (85,5%) tapi lebih unfair, muncul trade-off.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Calibri"/>
              </a:rPr>
              <a:t>FUTURE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evaluasi percakapan multi-turn &amp; 'honeypot conversation'.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penyelarasan metrik dengan persepsi manusia.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(Inferensi) mekanisme pertahanan anti-jailbreak.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PAPER 3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HELM: Evaluasi Holistik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Holistic Evaluation of Language Models  ·  Liang, Bommasani, Lee et al., TMLR 2023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Gagasan inti: ukur </a:t>
            </a:r>
            <a:r>
              <a:rPr sz="1300" b="1">
                <a:solidFill>
                  <a:srgbClr val="F1F5F9"/>
                </a:solidFill>
                <a:latin typeface="Calibri"/>
              </a:rPr>
              <a:t>banyak metrik sekaligus</a:t>
            </a:r>
            <a:r>
              <a:rPr sz="1300" b="0">
                <a:solidFill>
                  <a:srgbClr val="94A3B8"/>
                </a:solidFill>
                <a:latin typeface="Calibri"/>
              </a:rPr>
              <a:t> untuk tiap skenario, bukan hanya akurasi. 98 dari 112 pasangan terukur (87,5%).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Calibration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F43F5E"/>
                </a:solidFill>
                <a:latin typeface="Calibri"/>
              </a:rPr>
              <a:t>Robustness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1808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Fairness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Calibri"/>
              </a:rPr>
              <a:t>Bias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Toxicity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94976" y="2423160"/>
            <a:ext cx="1517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Calibri"/>
              </a:rPr>
              <a:t>Efficiency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16 skenario inti  ×  7 metrik  ·  warna = dimensi SAFE terkait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Calibri"/>
              </a:rPr>
              <a:t>Robustness (Secure)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Performa worst-case atas transformasi ringan (mis. typo). Dua sifat: </a:t>
            </a:r>
            <a:r>
              <a:rPr sz="1300" b="1">
                <a:solidFill>
                  <a:srgbClr val="F1F5F9"/>
                </a:solidFill>
                <a:latin typeface="Calibri"/>
              </a:rPr>
              <a:t>invariance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tak berubah) &amp; </a:t>
            </a:r>
            <a:r>
              <a:rPr sz="1300" b="1">
                <a:solidFill>
                  <a:srgbClr val="F1F5F9"/>
                </a:solidFill>
                <a:latin typeface="Calibri"/>
              </a:rPr>
              <a:t>equivariance</a:t>
            </a:r>
            <a:r>
              <a:rPr sz="1300" b="0">
                <a:solidFill>
                  <a:srgbClr val="94A3B8"/>
                </a:solidFill>
                <a:latin typeface="Calibri"/>
              </a:rPr>
              <a:t> (output berubah sesuai), menangkap robustness lokal di sekitar tiap input.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3912" y="3520440"/>
            <a:ext cx="5486400" cy="2468880"/>
          </a:xfrm>
          <a:prstGeom prst="rect">
            <a:avLst/>
          </a:prstGeom>
          <a:solidFill>
            <a:srgbClr val="131C31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657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Fairness (Fair)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4160520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Diukur lewat perturbasi: ubah dialek (SAE→AAE) dan tukar istilah gender, lalu lihat worst-case accuracy. Dipakai karena </a:t>
            </a:r>
            <a:r>
              <a:rPr sz="1300" b="1">
                <a:solidFill>
                  <a:srgbClr val="F1F5F9"/>
                </a:solidFill>
                <a:latin typeface="Calibri"/>
              </a:rPr>
              <a:t>metadata demografi sering tak tersedia</a:t>
            </a:r>
            <a:r>
              <a:rPr sz="1300" b="0">
                <a:solidFill>
                  <a:srgbClr val="94A3B8"/>
                </a:solidFill>
                <a:latin typeface="Calibri"/>
              </a:rPr>
              <a:t>; disparitas langsung diukur bila metadata ada.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0A5FA"/>
                </a:solidFill>
                <a:latin typeface="Calibri"/>
              </a:rPr>
              <a:t>PAPER 3 · RINGKASAN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HELM: Ringkasan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METODE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Evaluasi holistik multi-metrik: 7 metrik × 16 core scenarios.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Robustness: invariance (typo) &amp; equivariance (contrast set).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Fairness: counterfactual (dialek SAE→AAE, gender) + disparitas demografi.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71600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81328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KONTRIBUSI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920240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Taksonomi eksplisit ruang desain (scenario × metrik): jelas yang diukur &amp; yang hilang.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Standardisasi 30 model dari 12 organisasi; coverage 17,9% → 96,0%.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Living benchmark; prompt &amp; hasil mentah dirilis publik.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HASIL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98 dari 112 pasangan (scenario, metrik) terukur = 87,5%.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Instruction-tuning &gt; skala: model 52B masuk top-3, kalahkan 530B.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Perturbasi: TNLG v2 turun 72,6% → 38,9% (NarrativeQA).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Dialek: OPT-175B 1,506 → 2,114 bits/byte (English → AAE).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822191"/>
            <a:ext cx="5486400" cy="2331720"/>
          </a:xfrm>
          <a:prstGeom prst="rect">
            <a:avLst/>
          </a:prstGeom>
          <a:solidFill>
            <a:srgbClr val="131C31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9319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60A5FA"/>
                </a:solidFill>
                <a:latin typeface="Calibri"/>
              </a:rPr>
              <a:t>FUTURE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370831"/>
            <a:ext cx="5029200" cy="16733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kerangka agregasi skor &amp; surrogate intrinsik (perplexity).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Eksplisit: uji signifikansi multi-seed.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Calibri"/>
              </a:rPr>
              <a:t>•  (Limitasi) cakupan dialek non-English, tugas interaktif &amp; multimodal.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SINTESIS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Peta 3 Paper × 4 Dimensi SAFE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91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Calibri"/>
              </a:rPr>
              <a:t>PAPER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Calibri"/>
              </a:rPr>
              <a:t>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1463040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Calibri"/>
              </a:rPr>
              <a:t>Accountable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1463040"/>
            <a:ext cx="1828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Fair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0" y="1463040"/>
            <a:ext cx="1920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Explainable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11680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1168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SoFCLR (SSL)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201168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011680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8 notasi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011680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(parsial)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724912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72491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43F5E"/>
                </a:solidFill>
                <a:latin typeface="Calibri"/>
              </a:rPr>
              <a:t>DecodingTrust (LLM)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8620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AdvGLUE++ ASR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72491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etika+toxic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724912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base-rate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2724912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38144"/>
            <a:ext cx="32918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43814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60A5FA"/>
                </a:solidFill>
                <a:latin typeface="Calibri"/>
              </a:rPr>
              <a:t>HELM (LLM)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8620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worst-case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52160" y="343814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toxic+calib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01000" y="3438144"/>
            <a:ext cx="1828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1">
                <a:solidFill>
                  <a:srgbClr val="F1F5F9"/>
                </a:solidFill>
                <a:latin typeface="Calibri"/>
              </a:rPr>
              <a:t>perturbasi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3438144"/>
            <a:ext cx="1920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64748B"/>
                </a:solidFill>
                <a:latin typeface="Calibri"/>
              </a:rPr>
              <a:t>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4434840"/>
            <a:ext cx="11091672" cy="1691640"/>
          </a:xfrm>
          <a:prstGeom prst="rect">
            <a:avLst/>
          </a:prstGeom>
          <a:solidFill>
            <a:srgbClr val="131C31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BBF24"/>
                </a:solidFill>
                <a:latin typeface="Calibri"/>
              </a:rPr>
              <a:t>Yang belum tertutup.  </a:t>
            </a:r>
            <a:r>
              <a:rPr sz="1350" b="0">
                <a:solidFill>
                  <a:srgbClr val="F1F5F9"/>
                </a:solidFill>
                <a:latin typeface="Calibri"/>
              </a:rPr>
              <a:t>Explainable dan Accountable masih lemah: hanya diproksikan lewat etika/toxicity, belum ada metrik audit-trail / model-card yang baku.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AutoML tidak punya satu pun paper metrik SAFE yang lolos verifikasi. Ini gap riset nyata, bukan sekadar belum sempat dicari.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Tiga Pelajaran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Metrik mengikuti paradigma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Tiap arsitektur butuh metrik yang disesuaikan: SSL diukur di tahap representasi (tanpa label), LLM diukur lewat benchmark perilaku output.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10896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Benchmark menyatukan dimensi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DecodingTrust &amp; HELM menunjukkan SAFE bisa diukur serempak dalam satu kerangka, bukan empat pengujian terpisah.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80"/>
            <a:ext cx="11091672" cy="1143000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914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818C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434840"/>
            <a:ext cx="9601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F1F5F9"/>
                </a:solidFill>
                <a:latin typeface="Calibri"/>
              </a:rPr>
              <a:t>Selalu ada trade-off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Calibri"/>
              </a:rPr>
              <a:t>Akurasi vs fairness, robustness vs efisiensi. Metrik yang baik justru membuat trade-off itu terlihat dan bisa dikelola.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Calibri"/>
              </a:rPr>
              <a:t>Ketiga paper menyediakan metrik yang bisa langsung dipakai untuk menguji SAFE pada model nyata.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solidFill>
            <a:srgbClr val="131C31"/>
          </a:solidFill>
          <a:ln w="15875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737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818CF8"/>
                </a:solidFill>
                <a:latin typeface="Calibri"/>
              </a:rPr>
              <a:t>REFERENSI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420624"/>
            <a:ext cx="9235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1F5F9"/>
                </a:solidFill>
                <a:latin typeface="Calibri"/>
              </a:rPr>
              <a:t>3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1672" cy="18288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73152" cy="13716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34D399"/>
                </a:solidFill>
                <a:latin typeface="Calibri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69163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Provable Optimization for Adversarial Fair Self-supervised Contrastive Learning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Qi, Hu, Lin &amp; Yang · 2024 · arXiv:2406.05686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Paradigma SSL, dimensi Fairness. Metrik: 8 notasi fairness; metode minimax adversarial.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39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63239"/>
            <a:ext cx="73152" cy="1371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Calibri"/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200399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DecodingTrust: A Comprehensive Assessment of Trustworthiness in GPT Models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Wang et al. · NeurIPS 2023 (Outstanding Paper) · arXiv:2306.11698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dimensi Secure/Fair/Accountable. 8 perspektif; AdvGLUE++ ASR hingga 89,2%.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72000"/>
            <a:ext cx="11091672" cy="1371600"/>
          </a:xfrm>
          <a:prstGeom prst="rect">
            <a:avLst/>
          </a:prstGeom>
          <a:solidFill>
            <a:srgbClr val="131C31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72000"/>
            <a:ext cx="73152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914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1">
                <a:solidFill>
                  <a:srgbClr val="60A5FA"/>
                </a:solidFill>
                <a:latin typeface="Calibri"/>
              </a:rPr>
              <a:t>[3]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709160"/>
            <a:ext cx="9784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F1F5F9"/>
                </a:solidFill>
                <a:latin typeface="Calibri"/>
              </a:rPr>
              <a:t>Holistic Evaluation of Language Models (HELM)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C7D2FE"/>
                </a:solidFill>
                <a:latin typeface="Calibri"/>
              </a:rPr>
              <a:t>Liang, Bommasani, Lee et al. · TMLR 2023 · arXiv:2211.09110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LLM, evaluasi multi-metrik. 7 metrik × 16 skenario; robustness &amp; fairness worst-case.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