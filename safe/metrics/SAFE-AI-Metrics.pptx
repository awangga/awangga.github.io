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5000" b="1">
                <a:solidFill>
                  <a:srgbClr val="818CF8"/>
                </a:solidFill>
                <a:latin typeface="Calibri"/>
              </a:rPr>
              <a:t>METRIK 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1F5F9"/>
                </a:solidFill>
                <a:latin typeface="Calibri"/>
              </a:rPr>
              <a:t>Mengukur Secure, Accountable, Fair &amp;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C7D2FE"/>
                </a:solidFill>
                <a:latin typeface="Calibri"/>
              </a:rPr>
              <a:t>pada Self-Supervised Learning &amp; Transformer/LLM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069080"/>
            <a:ext cx="2286000" cy="1828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Telaah 3 paper kunci  ·  Trend Terkini Kecerdasan Mesin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5029200"/>
            <a:ext cx="274320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02920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SoFCLR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5029200"/>
            <a:ext cx="274320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02920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Calibri"/>
              </a:rPr>
              <a:t>DecodingTrust (NeurIPS'23)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5029200"/>
            <a:ext cx="274320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02920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HELM (TMLR'23)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PENGANTAR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Kenapa Butuh Metrik SAFE?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SAFE = </a:t>
            </a:r>
            <a:r>
              <a:rPr sz="1600" b="1">
                <a:solidFill>
                  <a:srgbClr val="F43F5E"/>
                </a:solidFill>
                <a:latin typeface="Calibri"/>
              </a:rPr>
              <a:t>S</a:t>
            </a:r>
            <a:r>
              <a:rPr sz="1600" b="0">
                <a:solidFill>
                  <a:srgbClr val="94A3B8"/>
                </a:solidFill>
                <a:latin typeface="Calibri"/>
              </a:rPr>
              <a:t>ecure  ·  </a:t>
            </a:r>
            <a:r>
              <a:rPr sz="1600" b="1">
                <a:solidFill>
                  <a:srgbClr val="60A5FA"/>
                </a:solidFill>
                <a:latin typeface="Calibri"/>
              </a:rPr>
              <a:t>A</a:t>
            </a:r>
            <a:r>
              <a:rPr sz="1600" b="0">
                <a:solidFill>
                  <a:srgbClr val="94A3B8"/>
                </a:solidFill>
                <a:latin typeface="Calibri"/>
              </a:rPr>
              <a:t>ccountable  ·  </a:t>
            </a:r>
            <a:r>
              <a:rPr sz="1600" b="1">
                <a:solidFill>
                  <a:srgbClr val="34D399"/>
                </a:solidFill>
                <a:latin typeface="Calibri"/>
              </a:rPr>
              <a:t>F</a:t>
            </a:r>
            <a:r>
              <a:rPr sz="1600" b="0">
                <a:solidFill>
                  <a:srgbClr val="94A3B8"/>
                </a:solidFill>
                <a:latin typeface="Calibri"/>
              </a:rPr>
              <a:t>air  ·  </a:t>
            </a:r>
            <a:r>
              <a:rPr sz="1600" b="1">
                <a:solidFill>
                  <a:srgbClr val="FBBF24"/>
                </a:solidFill>
                <a:latin typeface="Calibri"/>
              </a:rPr>
              <a:t>E</a:t>
            </a:r>
            <a:r>
              <a:rPr sz="1600" b="0">
                <a:solidFill>
                  <a:srgbClr val="94A3B8"/>
                </a:solidFill>
                <a:latin typeface="Calibri"/>
              </a:rPr>
              <a:t>xplainable</a:t>
            </a:r>
            <a:r>
              <a:rPr sz="1600" b="0">
                <a:solidFill>
                  <a:srgbClr val="94A3B8"/>
                </a:solidFill>
                <a:latin typeface="Calibri"/>
              </a:rPr>
              <a:t>.  Empat dimensi ini hanya bermakna jika bisa </a:t>
            </a:r>
            <a:r>
              <a:rPr sz="1600" b="1">
                <a:solidFill>
                  <a:srgbClr val="C7D2FE"/>
                </a:solidFill>
                <a:latin typeface="Calibri"/>
              </a:rPr>
              <a:t>diukur dengan angka</a:t>
            </a:r>
            <a:r>
              <a:rPr sz="1600" b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679192" cy="237744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43F5E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Secure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Attack Success Rate (ASR),
certified accuracy, robust acc.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2468880"/>
            <a:ext cx="2679192" cy="2377440"/>
          </a:xfrm>
          <a:prstGeom prst="rect">
            <a:avLst/>
          </a:prstGeom>
          <a:solidFill>
            <a:srgbClr val="131C31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60A5FA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Accountable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749039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Audit trail, model card,
ethics &amp; toxicity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2468880"/>
            <a:ext cx="2679192" cy="237744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34D399"/>
                </a:solidFill>
                <a:latin typeface="Calibri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Fair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49039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Demographic parity,
equalized odds, base-rate parity.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87967" y="2468880"/>
            <a:ext cx="2679192" cy="2377440"/>
          </a:xfrm>
          <a:prstGeom prst="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BBF24"/>
                </a:solidFill>
                <a:latin typeface="Calibri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2918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Explainable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3749039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Faithfulness, plausibility,
korelasi dgn SHAP/LIME.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solidFill>
            <a:srgbClr val="131C31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Calibri"/>
              </a:rPr>
              <a:t>Masalahnya: </a:t>
            </a:r>
            <a:r>
              <a:rPr sz="1400" b="0">
                <a:solidFill>
                  <a:srgbClr val="F1F5F9"/>
                </a:solidFill>
                <a:latin typeface="Calibri"/>
              </a:rPr>
              <a:t>metrik klasik mengandaikan model dengan label dan output yang jelas. SSL belajar tanpa label, dan LLM mengeluarkan teks bebas. Ketiga paper berikut menjawab bagaimana cara mengukurnya.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PETA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Tiga Paper, Tiga Sudut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93592" cy="466344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459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34D39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1F5F9"/>
                </a:solidFill>
                <a:latin typeface="Calibri"/>
              </a:rPr>
              <a:t>SoFCLR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2880360"/>
            <a:ext cx="237744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SSL / Contrastive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4747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Qi, Hu, Lin &amp; Yang
arXiv:2406.05686 ·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4343400"/>
            <a:ext cx="304495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Bagaimana mengukur &amp; memperbaiki FAIRNESS pada representasi yang dipelajari tanpa label.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3" y="1463040"/>
            <a:ext cx="3593592" cy="466344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3" y="16459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43F5E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3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1F5F9"/>
                </a:solidFill>
                <a:latin typeface="Calibri"/>
              </a:rPr>
              <a:t>DecodingTrust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3" y="2880360"/>
            <a:ext cx="237744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2880360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Calibri"/>
              </a:rPr>
              <a:t>Transformer / 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34747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Wang et al.
NeurIPS 2023 (Outstanding)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3" y="4343400"/>
            <a:ext cx="304495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3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Benchmark 8 perspektif kepercayaan LLM: robustness, privasi, bias, fairness, etika.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7" y="1463040"/>
            <a:ext cx="3593592" cy="4663440"/>
          </a:xfrm>
          <a:prstGeom prst="rect">
            <a:avLst/>
          </a:prstGeom>
          <a:solidFill>
            <a:srgbClr val="131C31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6459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60A5F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1F5F9"/>
                </a:solidFill>
                <a:latin typeface="Calibri"/>
              </a:rPr>
              <a:t>HELM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7888" y="2880360"/>
            <a:ext cx="237744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880360"/>
            <a:ext cx="2377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Transformer /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4747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Liang, Bommasani, Lee et al.
TMLR 2023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4343400"/>
            <a:ext cx="304495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Evaluasi holistik: 7 metrik diukur serempak pada 16 skenario inti.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PAPER 1 · 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SoFCLR — Fairness Tanpa Label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Provable Optimization for Adversarial Fair Self-supervised Contrastive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Qi, Hu, Lin &amp; Yang (2024) · arXiv:2406.05686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00" cy="169164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Contrastive learning (SimCLR dll.) belajar dari data tanpa label. Representasinya bisa diam-diam menyandi bias (gender, ras). Fairness sulit diukur karena tidak ada label.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5486400" cy="169164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Adversarial fair representation learning: minimkan contrastive loss pada data tak berlabel, sambil maksimalkan loss penebak atribut sensitif pada sedikit data berlabel (permainan minimax).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377440"/>
            <a:ext cx="5394960" cy="169164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514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Metrik (dimensi Fair)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97180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Dievaluasi dengan 8 notasi fairness pada klasifikasi downstream, mis. </a:t>
            </a:r>
            <a:r>
              <a:rPr sz="1250" b="1">
                <a:solidFill>
                  <a:srgbClr val="F1F5F9"/>
                </a:solidFill>
                <a:latin typeface="Calibri"/>
              </a:rPr>
              <a:t>demographic parity</a:t>
            </a:r>
            <a:r>
              <a:rPr sz="1250" b="0">
                <a:solidFill>
                  <a:srgbClr val="94A3B8"/>
                </a:solidFill>
                <a:latin typeface="Calibri"/>
              </a:rPr>
              <a:t> &amp; </a:t>
            </a:r>
            <a:r>
              <a:rPr sz="1250" b="1">
                <a:solidFill>
                  <a:srgbClr val="F1F5F9"/>
                </a:solidFill>
                <a:latin typeface="Calibri"/>
              </a:rPr>
              <a:t>equalized odds</a:t>
            </a:r>
            <a:r>
              <a:rPr sz="1250" b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4206240"/>
            <a:ext cx="5394960" cy="169164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43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Kontribusi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0060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Algoritma stokastik dengan jaminan konvergensi </a:t>
            </a:r>
            <a:r>
              <a:rPr sz="1250" b="1">
                <a:solidFill>
                  <a:srgbClr val="F1F5F9"/>
                </a:solidFill>
                <a:latin typeface="Calibri"/>
              </a:rPr>
              <a:t>tanpa perlu batch besar</a:t>
            </a:r>
            <a:r>
              <a:rPr sz="1250" b="0">
                <a:solidFill>
                  <a:srgbClr val="94A3B8"/>
                </a:solidFill>
                <a:latin typeface="Calibri"/>
              </a:rPr>
              <a:t> — menyiasati global contrastive loss yang mahal.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PAPER 1 · INTI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Tantangan Khas Fairness di SSL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137160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822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34D39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1F5F9"/>
                </a:solidFill>
                <a:latin typeface="Calibri"/>
              </a:rPr>
              <a:t>Tanpa label downstream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Fairness biasanya butuh label kelas + atribut sensitif. SSL pra-latih tanpa keduanya, jadi metrik fairness harus dirancang ulang untuk tahap representasi.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39"/>
            <a:ext cx="11091672" cy="137160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39"/>
            <a:ext cx="822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34D39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461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1F5F9"/>
                </a:solidFill>
                <a:latin typeface="Calibri"/>
              </a:rPr>
              <a:t>Optimisasi sulit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Minimax-nya non-convex non-concave, diperberat global contrastive loss yang membandingkan tiap sampel dengan semua sampel lain. SoFCLR memberi solusi terbukti (provable).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822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548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1F5F9"/>
                </a:solidFill>
                <a:latin typeface="Calibri"/>
              </a:rPr>
              <a:t>Bukan otomatis adil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Penulis menegaskan SSL tidak inheren adil — pra-pelatihan tetap dapat menyandi bias bila tidak diberi sinyal fairness eksplisit.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Calibri"/>
              </a:rPr>
              <a:t>PAPER 2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DecodingTrust — 8 Perspektif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Calibri"/>
              </a:rPr>
              <a:t>A Comprehensive Assessment of Trustworthiness in GPT Models  ·  Wang et al., NeurIPS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Calibri"/>
              </a:rPr>
              <a:t>SECURE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109728" cy="2926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Adversarial robustness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71800"/>
            <a:ext cx="109728" cy="2926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OOD robustness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83280"/>
            <a:ext cx="109728" cy="2926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Adv. demonstrations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109728" cy="2926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Privacy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96712" y="1920240"/>
            <a:ext cx="3017520" cy="228600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2057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FAIR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2560320"/>
            <a:ext cx="109728" cy="2926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25603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Stereotype bias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25312" y="2971800"/>
            <a:ext cx="109728" cy="2926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718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Fairness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33104" y="1920240"/>
            <a:ext cx="3044952" cy="2286000"/>
          </a:xfrm>
          <a:prstGeom prst="rect">
            <a:avLst/>
          </a:prstGeom>
          <a:solidFill>
            <a:srgbClr val="131C31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1704" y="2057400"/>
            <a:ext cx="2587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ACCOUNTABLE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61704" y="2560320"/>
            <a:ext cx="109728" cy="2926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2560320"/>
            <a:ext cx="23134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Machine ethics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704" y="2971800"/>
            <a:ext cx="109728" cy="2926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2971800"/>
            <a:ext cx="23134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Toxicity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34840"/>
            <a:ext cx="11091672" cy="169164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72000"/>
            <a:ext cx="10607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Calibri"/>
              </a:rPr>
              <a:t>Metrik konkret.  </a:t>
            </a:r>
            <a:r>
              <a:rPr sz="1350" b="0">
                <a:solidFill>
                  <a:srgbClr val="F1F5F9"/>
                </a:solidFill>
                <a:latin typeface="Calibri"/>
              </a:rPr>
              <a:t>Robustness diuji dengan benchmark AdvGLUE / AdvGLUE++ (serangan TextFooler, SemAttack, BERT-ATTACK) — Attack Success Rate mencapai 89,2% pada GPT-4 (kasus transfer terbaik).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Fairness diukur lewat base-rate parity antar kelompok demografi, dan menemukan trade-off akurasi-fairness: GPT-4 lebih akurat pada data seimbang, tapi lebih tidak adil pada data timpang.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PAPER 3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HELM — Evaluasi Holistik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Holistic Evaluation of Language Models  ·  Liang, Bommasani, Lee et al., TMLR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Gagasan inti: ukur </a:t>
            </a:r>
            <a:r>
              <a:rPr sz="1300" b="1">
                <a:solidFill>
                  <a:srgbClr val="F1F5F9"/>
                </a:solidFill>
                <a:latin typeface="Calibri"/>
              </a:rPr>
              <a:t>banyak metrik sekaligus</a:t>
            </a:r>
            <a:r>
              <a:rPr sz="1300" b="0">
                <a:solidFill>
                  <a:srgbClr val="94A3B8"/>
                </a:solidFill>
                <a:latin typeface="Calibri"/>
              </a:rPr>
              <a:t> untuk tiap skenario, bukan hanya akurasi. 98 dari 112 pasangan terukur (87,5%).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Calibration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0752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Calibri"/>
              </a:rPr>
              <a:t>Robustness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Fairness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Toxicity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94976" y="2423160"/>
            <a:ext cx="1517904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4976" y="2423160"/>
            <a:ext cx="1517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16 skenario inti  ×  7 metrik  ·  warna = dimensi SAFE terkait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5486400" cy="246888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43F5E"/>
                </a:solidFill>
                <a:latin typeface="Calibri"/>
              </a:rPr>
              <a:t>Robustness (Secure)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6052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Performa worst-case atas transformasi ringan (mis. typo). Dua sifat: </a:t>
            </a:r>
            <a:r>
              <a:rPr sz="1300" b="1">
                <a:solidFill>
                  <a:srgbClr val="F1F5F9"/>
                </a:solidFill>
                <a:latin typeface="Calibri"/>
              </a:rPr>
              <a:t>invariance</a:t>
            </a:r>
            <a:r>
              <a:rPr sz="1300" b="0">
                <a:solidFill>
                  <a:srgbClr val="94A3B8"/>
                </a:solidFill>
                <a:latin typeface="Calibri"/>
              </a:rPr>
              <a:t> (output tak berubah) &amp; </a:t>
            </a:r>
            <a:r>
              <a:rPr sz="1300" b="1">
                <a:solidFill>
                  <a:srgbClr val="F1F5F9"/>
                </a:solidFill>
                <a:latin typeface="Calibri"/>
              </a:rPr>
              <a:t>equivariance</a:t>
            </a:r>
            <a:r>
              <a:rPr sz="1300" b="0">
                <a:solidFill>
                  <a:srgbClr val="94A3B8"/>
                </a:solidFill>
                <a:latin typeface="Calibri"/>
              </a:rPr>
              <a:t> (output berubah sesuai), menangkap robustness lokal di sekitar tiap input.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3520440"/>
            <a:ext cx="5486400" cy="2468880"/>
          </a:xfrm>
          <a:prstGeom prst="rect">
            <a:avLst/>
          </a:prstGeom>
          <a:solidFill>
            <a:srgbClr val="131C31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657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Fairness (Fair)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16052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Diukur lewat perturbasi: ubah dialek (SAE→AAE) dan tukar istilah gender, lalu lihat worst-case accuracy. Dipakai karena </a:t>
            </a:r>
            <a:r>
              <a:rPr sz="1300" b="1">
                <a:solidFill>
                  <a:srgbClr val="F1F5F9"/>
                </a:solidFill>
                <a:latin typeface="Calibri"/>
              </a:rPr>
              <a:t>metadata demografi sering tak tersedia</a:t>
            </a:r>
            <a:r>
              <a:rPr sz="1300" b="0">
                <a:solidFill>
                  <a:srgbClr val="94A3B8"/>
                </a:solidFill>
                <a:latin typeface="Calibri"/>
              </a:rPr>
              <a:t>; disparitas langsung diukur bila metadata 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SINTESIS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Peta 3 Paper × 4 Dimensi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29184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Calibri"/>
              </a:rPr>
              <a:t>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463040"/>
            <a:ext cx="192024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46304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Calibri"/>
              </a:rPr>
              <a:t>Secure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63040"/>
            <a:ext cx="210312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4630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Accountable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4630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Fair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463040"/>
            <a:ext cx="192024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46304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Explainable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11680"/>
            <a:ext cx="32918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01168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Calibri"/>
              </a:rPr>
              <a:t>SoFCLR (SSL)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011680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201168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011680"/>
            <a:ext cx="210312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0116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011680"/>
            <a:ext cx="182880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01168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8 notasi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011680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01168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(parsial)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24912"/>
            <a:ext cx="32918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724912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43F5E"/>
                </a:solidFill>
                <a:latin typeface="Calibri"/>
              </a:rPr>
              <a:t>DecodingTrust (LLM)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724912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724912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AdvGLUE++ ASR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724912"/>
            <a:ext cx="210312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24912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etika+toxic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724912"/>
            <a:ext cx="182880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72491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base-rate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724912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724912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438144"/>
            <a:ext cx="32918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43814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60A5FA"/>
                </a:solidFill>
                <a:latin typeface="Calibri"/>
              </a:rPr>
              <a:t>HELM (LLM)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438144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3438144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worst-case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438144"/>
            <a:ext cx="210312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3438144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toxic+calib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438144"/>
            <a:ext cx="182880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343814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  <a:latin typeface="Calibri"/>
              </a:rPr>
              <a:t>perturbasi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438144"/>
            <a:ext cx="1920240" cy="64008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3438144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434840"/>
            <a:ext cx="11091672" cy="1691640"/>
          </a:xfrm>
          <a:prstGeom prst="rect">
            <a:avLst/>
          </a:prstGeom>
          <a:solidFill>
            <a:srgbClr val="131C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572000"/>
            <a:ext cx="10607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Yang belum tertutup.  </a:t>
            </a:r>
            <a:r>
              <a:rPr sz="1350" b="0">
                <a:solidFill>
                  <a:srgbClr val="F1F5F9"/>
                </a:solidFill>
                <a:latin typeface="Calibri"/>
              </a:rPr>
              <a:t>Explainable dan Accountable masih lemah: hanya diproksikan lewat etika/toxicity, belum ada metrik audit-trail / model-card yang baku. 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AutoML tidak punya satu pun paper metrik SAFE yang lolos verifikasi — ini gap riset nyata, bukan sekadar belum sempat dicari.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Tiga Pelajaran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1091672" cy="1143000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914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818CF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F1F5F9"/>
                </a:solidFill>
                <a:latin typeface="Calibri"/>
              </a:rPr>
              <a:t>Metrik mengikuti paradigma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Tiap arsitektur butuh metrik yang disesuaikan: SSL diukur di tahap representasi (tanpa label), LLM diukur lewat benchmark perilaku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1091672" cy="1143000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914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818CF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F1F5F9"/>
                </a:solidFill>
                <a:latin typeface="Calibri"/>
              </a:rPr>
              <a:t>Benchmark menyatukan dimensi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DecodingTrust &amp; HELM menunjukkan SAFE bisa diukur serempak dalam satu kerangka, bukan empat pengujian terpisah.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11091672" cy="1143000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914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818CF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3484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F1F5F9"/>
                </a:solidFill>
                <a:latin typeface="Calibri"/>
              </a:rPr>
              <a:t>Selalu ada trade-off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Akurasi vs fairness, robustness vs efisiensi. Metrik yang baik justru membuat trade-off itu terlihat dan bisa dikelola.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Calibri"/>
              </a:rPr>
              <a:t>Mengukur SAFE adalah syarat untuk memperbaikinya: yang tak terukur tak bisa diperbaiki.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solidFill>
            <a:srgbClr val="131C31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REFERENSI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206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1F5F9"/>
                </a:solidFill>
                <a:latin typeface="Calibri"/>
              </a:rPr>
              <a:t>3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137160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914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34D399"/>
                </a:solidFill>
                <a:latin typeface="Calibri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39"/>
            <a:ext cx="9784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Provable Optimization for Adversarial Fair Self-supervised Contrastive Learning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7D2FE"/>
                </a:solidFill>
                <a:latin typeface="Calibri"/>
              </a:rPr>
              <a:t>Qi, Hu, Lin &amp; Yang · 2024 · arXiv:2406.05686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SSL — Fairness. Metrik: 8 notasi fairness; metode minimax adversarial.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39"/>
            <a:ext cx="11091672" cy="137160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73152" cy="1371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39"/>
            <a:ext cx="914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43F5E"/>
                </a:solidFill>
                <a:latin typeface="Calibri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0399"/>
            <a:ext cx="9784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DecodingTrust: A Comprehensive Assessment of Trustworthiness in GPT Models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7D2FE"/>
                </a:solidFill>
                <a:latin typeface="Calibri"/>
              </a:rPr>
              <a:t>Wang et al. · NeurIPS 2023 (Outstanding Paper) · arXiv:2306.11698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LLM — Secure/Fair/Accountable. 8 perspektif; AdvGLUE++ ASR hingga 89,2%.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914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60A5FA"/>
                </a:solidFill>
                <a:latin typeface="Calibri"/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60"/>
            <a:ext cx="9784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F1F5F9"/>
                </a:solidFill>
                <a:latin typeface="Calibri"/>
              </a:rPr>
              <a:t>Holistic Evaluation of Language Models (HELM)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7D2FE"/>
                </a:solidFill>
                <a:latin typeface="Calibri"/>
              </a:rPr>
              <a:t>Liang, Bommasani, Lee et al. · TMLR 2023 · arXiv:2211.09110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LLM — multi-metrik. 7 metrik × 16 skenario; robustness &amp; fairness worst-case.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