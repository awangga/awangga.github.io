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5000" b="1">
                <a:solidFill>
                  <a:srgbClr val="818CF8"/>
                </a:solidFill>
                <a:latin typeface="Calibri"/>
              </a:rPr>
              <a:t>METRIK SAFE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F1F5F9"/>
                </a:solidFill>
                <a:latin typeface="Calibri"/>
              </a:rPr>
              <a:t>Mengukur Secure, Accountable, Fair &amp; Explainable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C7D2FE"/>
                </a:solidFill>
                <a:latin typeface="Calibri"/>
              </a:rPr>
              <a:t>pada Self-Supervised Learning &amp; Transformer/LLM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4069080"/>
            <a:ext cx="2286000" cy="1828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Telaah 3 paper kunci  ·  Trend Terkini Kecerdasan Mesin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SoFCLR (2024)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DecodingTrust (NeurIPS'23)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HELM (TMLR'23)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PENGANTAR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Kenapa Butuh Metrik SAFE?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SAFE = </a:t>
            </a:r>
            <a:r>
              <a:rPr sz="1600" b="1">
                <a:solidFill>
                  <a:srgbClr val="F43F5E"/>
                </a:solidFill>
                <a:latin typeface="Calibri"/>
              </a:rPr>
              <a:t>S</a:t>
            </a:r>
            <a:r>
              <a:rPr sz="1600" b="0">
                <a:solidFill>
                  <a:srgbClr val="94A3B8"/>
                </a:solidFill>
                <a:latin typeface="Calibri"/>
              </a:rPr>
              <a:t>ecure  ·  </a:t>
            </a:r>
            <a:r>
              <a:rPr sz="1600" b="1">
                <a:solidFill>
                  <a:srgbClr val="60A5FA"/>
                </a:solidFill>
                <a:latin typeface="Calibri"/>
              </a:rPr>
              <a:t>A</a:t>
            </a:r>
            <a:r>
              <a:rPr sz="1600" b="0">
                <a:solidFill>
                  <a:srgbClr val="94A3B8"/>
                </a:solidFill>
                <a:latin typeface="Calibri"/>
              </a:rPr>
              <a:t>ccountable  ·  </a:t>
            </a:r>
            <a:r>
              <a:rPr sz="1600" b="1">
                <a:solidFill>
                  <a:srgbClr val="34D399"/>
                </a:solidFill>
                <a:latin typeface="Calibri"/>
              </a:rPr>
              <a:t>F</a:t>
            </a:r>
            <a:r>
              <a:rPr sz="1600" b="0">
                <a:solidFill>
                  <a:srgbClr val="94A3B8"/>
                </a:solidFill>
                <a:latin typeface="Calibri"/>
              </a:rPr>
              <a:t>air  ·  </a:t>
            </a:r>
            <a:r>
              <a:rPr sz="1600" b="1">
                <a:solidFill>
                  <a:srgbClr val="FBBF24"/>
                </a:solidFill>
                <a:latin typeface="Calibri"/>
              </a:rPr>
              <a:t>E</a:t>
            </a:r>
            <a:r>
              <a:rPr sz="1600" b="0">
                <a:solidFill>
                  <a:srgbClr val="94A3B8"/>
                </a:solidFill>
                <a:latin typeface="Calibri"/>
              </a:rPr>
              <a:t>xplainable</a:t>
            </a:r>
            <a:r>
              <a:rPr sz="1600" b="0">
                <a:solidFill>
                  <a:srgbClr val="94A3B8"/>
                </a:solidFill>
                <a:latin typeface="Calibri"/>
              </a:rPr>
              <a:t>.  Empat dimensi ini hanya bermakna jika bisa </a:t>
            </a:r>
            <a:r>
              <a:rPr sz="1600" b="1">
                <a:solidFill>
                  <a:srgbClr val="C7D2FE"/>
                </a:solidFill>
                <a:latin typeface="Calibri"/>
              </a:rPr>
              <a:t>diukur dengan angka</a:t>
            </a:r>
            <a:r>
              <a:rPr sz="1600" b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F43F5E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Secure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Attack Success Rate (ASR),
certified accuracy, robust acc.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28416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7016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60A5FA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Accountable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Audit trail, model card,
ethics &amp; toxicity score.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8192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34D399"/>
                </a:solidFill>
                <a:latin typeface="Calibri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Fair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Demographic parity,
equalized odds, base-rate parity.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87967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7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FBBF24"/>
                </a:solidFill>
                <a:latin typeface="Calibri"/>
              </a:rPr>
              <a:t>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7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Explainable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7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Faithfulness, plausibility,
korelasi dgn SHAP/LIME.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solidFill>
            <a:srgbClr val="13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Masalahnya: </a:t>
            </a:r>
            <a:r>
              <a:rPr sz="1400" b="0">
                <a:solidFill>
                  <a:srgbClr val="F1F5F9"/>
                </a:solidFill>
                <a:latin typeface="Calibri"/>
              </a:rPr>
              <a:t>metrik klasik mengandaikan model dengan label dan output yang jelas. SSL belajar tanpa label, dan LLM mengeluarkan teks bebas. Ketiga paper berikut menjawab bagaimana cara mengukurnya.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Tiga Paper yang Dipakai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SoFCLR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SSL / Contrastive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Qi, Hu, Lin &amp; Yang
arXiv:2406.05686 ·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Bagaimana mengukur &amp; memperbaiki FAIRNESS pada representasi yang dipelajari tanpa label.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3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3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43F5E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3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DecodingTrust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3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3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Transformer / 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Wang et al.
NeurIPS 2023 (Outstanding)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3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3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Benchmark 8 perspektif kepercayaan LLM: robustness, privasi, bias, fairness, etika.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7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60A5FA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HELM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47888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Transformer / LLM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Liang, Bommasani, Lee et al.
TMLR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7888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Evaluasi holistik: 7 metrik diukur serempak pada 16 skenario inti.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SSL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SoFCLR: Fairness Tanpa Label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Provable Optimization for Adversarial Fair Self-supervised Contrastive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Qi, Hu, Lin &amp; Yang (2024) · arXiv:2406.05686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548640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Masalah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Contrastive learning (SimCLR dll.) belajar dari data tanpa label. Representasinya bisa diam-diam menyandi bias (gender, ras). Fairness sulit diukur karena tidak ada label.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548640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0060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Adversarial fair representation learning: minimkan contrastive loss pada data tak berlabel, sambil maksimalkan loss penebak atribut sensitif pada sedikit data berlabel (permainan minimax).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377440"/>
            <a:ext cx="5394960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5146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Metrik (dimensi Fair)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97180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Dievaluasi dengan 8 notasi fairness pada klasifikasi downstream, mis. </a:t>
            </a:r>
            <a:r>
              <a:rPr sz="1250" b="1">
                <a:solidFill>
                  <a:srgbClr val="F1F5F9"/>
                </a:solidFill>
                <a:latin typeface="Calibri"/>
              </a:rPr>
              <a:t>demographic parity</a:t>
            </a:r>
            <a:r>
              <a:rPr sz="1250" b="0">
                <a:solidFill>
                  <a:srgbClr val="94A3B8"/>
                </a:solidFill>
                <a:latin typeface="Calibri"/>
              </a:rPr>
              <a:t> &amp; </a:t>
            </a:r>
            <a:r>
              <a:rPr sz="1250" b="1">
                <a:solidFill>
                  <a:srgbClr val="F1F5F9"/>
                </a:solidFill>
                <a:latin typeface="Calibri"/>
              </a:rPr>
              <a:t>equalized odds</a:t>
            </a:r>
            <a:r>
              <a:rPr sz="1250" b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206240"/>
            <a:ext cx="539496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43434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Kontribusi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80060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Algoritma stokastik dengan jaminan konvergensi </a:t>
            </a:r>
            <a:r>
              <a:rPr sz="1250" b="1">
                <a:solidFill>
                  <a:srgbClr val="F1F5F9"/>
                </a:solidFill>
                <a:latin typeface="Calibri"/>
              </a:rPr>
              <a:t>tanpa perlu batch besar</a:t>
            </a:r>
            <a:r>
              <a:rPr sz="1250" b="0">
                <a:solidFill>
                  <a:srgbClr val="94A3B8"/>
                </a:solidFill>
                <a:latin typeface="Calibri"/>
              </a:rPr>
              <a:t>, menyiasati global contrastive loss yang mahal.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ALGORITMA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Cara Kerja SoFCLR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SoFCLR = Stochastic Optimization for Fair Contrastive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1828800"/>
            <a:ext cx="9601200" cy="10972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82880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300" b="1">
                <a:solidFill>
                  <a:srgbClr val="34D399"/>
                </a:solidFill>
                <a:latin typeface="Calibri"/>
              </a:rPr>
              <a:t>F(w, w′)  =  F_GCL(w)  +  α · F_fair(w, w′)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minimalkan terhadap encoder w  ·  maksimalkan terhadap diskriminator w′  ·  α = bobot trade-off (fairness ↔ akurasi)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Suku F_GCL  (representasi)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0624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Global contrastive loss: tarik dua augmentasi gambar yang sama agar berdekatan, dorong menjauh dari semua sampel lain. Menjaga representasi tetap kaya dan informatif.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356616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7033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Suku F_fair  (fairness)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420624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Diskriminator berusaha menebak atribut sensitif (mis. gender) dari representasi. Encoder dilatih agar diskriminator </a:t>
            </a:r>
            <a:r>
              <a:rPr sz="1300" b="1">
                <a:solidFill>
                  <a:srgbClr val="F1F5F9"/>
                </a:solidFill>
                <a:latin typeface="Calibri"/>
              </a:rPr>
              <a:t>gagal</a:t>
            </a:r>
            <a:r>
              <a:rPr sz="1300" b="0">
                <a:solidFill>
                  <a:srgbClr val="94A3B8"/>
                </a:solidFill>
                <a:latin typeface="Calibri"/>
              </a:rPr>
              <a:t>, sehingga representasi tidak membawa informasi sensitif.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ALGORITMA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 per Iterasi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6400800" cy="4617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Langkah tiap iterasi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03120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Ambil 1 batch data tak berlabel + 1 batch kecil yang berlabel atribut sensitif.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71215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71215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Buat 2 augmentasi tiap sampel; perbarui moving-average u (estimator suku contrastive).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639311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639311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Hitung gradien dari nilai u, lalu haluskan dengan momentum.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07407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Encoder turun gradien:   w ← w − η ·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75503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75503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Diskriminator naik gradien:   w′ ← w′ + η′ · 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1463040"/>
            <a:ext cx="4507992" cy="22402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16276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Kenapa pakai moving-average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10312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Minibatch untuk contrastive bersifat bias karena tiap anchor seharusnya dibandingkan dengan seluruh dataset. Vektor u melacak nilai itu lintas iterasi sehingga error mengecil, tanpa perlu batch raksasa seperti SimCLR.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3840480"/>
            <a:ext cx="4507992" cy="22402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400507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Jaminan konvergensi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Terbukti mencapai titik ε-stationary dalam O(ε⁻⁴) iterasi: setara SGD untuk optimisasi non-convex, dan tanpa syarat batch besar.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INTI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Tantangan Khas Fairness di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3736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Tanpa label downstream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Fairness biasanya butuh label kelas + atribut sensitif. SSL pra-latih tanpa keduanya, jadi metrik fairness harus dirancang ulang untuk tahap representasi.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39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63239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24612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Optimisasi sulit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Minimax-nya non-convex non-concave, diperberat global contrastive loss yang membandingkan tiap sampel dengan semua sampel lain. SoFCLR memberi solusi terbukti (provable).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7548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Bukan otomatis adil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Penulis menegaskan SSL tidak inheren adil; pra-pelatihan tetap dapat menyandi bias bila tidak diberi sinyal fairness eksplisit.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PAPER 2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DecodingTrust: 8 Perspektif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A Comprehensive Assessment of Trustworthiness in GPT Models  ·  Wang et al., NeurIPS 2023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029200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SECURE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6032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Adversarial robustness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7180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OOD robustness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8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38328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Adv. demonstrations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9476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9476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Privacy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96712" y="1920240"/>
            <a:ext cx="3017520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25312" y="2057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FAIR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312" y="2560320"/>
            <a:ext cx="109728" cy="2926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256032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Stereotype bias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25312" y="2971800"/>
            <a:ext cx="109728" cy="2926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297180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Fairness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3104" y="1920240"/>
            <a:ext cx="3044952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61704" y="2057400"/>
            <a:ext cx="25877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ACCOUNTABLE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1704" y="2560320"/>
            <a:ext cx="109728" cy="2926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0304" y="2560320"/>
            <a:ext cx="23134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Machine ethics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61704" y="2971800"/>
            <a:ext cx="109728" cy="2926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0304" y="2971800"/>
            <a:ext cx="23134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Toxicity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Calibri"/>
              </a:rPr>
              <a:t>Metrik konkret.  </a:t>
            </a:r>
            <a:r>
              <a:rPr sz="1350" b="0">
                <a:solidFill>
                  <a:srgbClr val="F1F5F9"/>
                </a:solidFill>
                <a:latin typeface="Calibri"/>
              </a:rPr>
              <a:t>Robustness diuji dengan benchmark AdvGLUE / AdvGLUE++ (serangan TextFooler, SemAttack, BERT-ATTACK). Attack Success Rate mencapai 89,2% pada GPT-4 (kasus transfer terbaik).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Fairness diukur lewat base-rate parity antar kelompok demografi, dan menemukan trade-off akurasi-fairness: GPT-4 lebih akurat pada data seimbang, tapi lebih tidak adil pada data timpang.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PAPER 3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HELM: Evaluasi Holistik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Holistic Evaluation of Language Models  ·  Liang, Bommasani, Lee et al., TMLR 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Gagasan inti: ukur </a:t>
            </a:r>
            <a:r>
              <a:rPr sz="1300" b="1">
                <a:solidFill>
                  <a:srgbClr val="F1F5F9"/>
                </a:solidFill>
                <a:latin typeface="Calibri"/>
              </a:rPr>
              <a:t>banyak metrik sekaligus</a:t>
            </a:r>
            <a:r>
              <a:rPr sz="1300" b="0">
                <a:solidFill>
                  <a:srgbClr val="94A3B8"/>
                </a:solidFill>
                <a:latin typeface="Calibri"/>
              </a:rPr>
              <a:t> untuk tiap skenario, bukan hanya akurasi. 98 dari 112 pasangan terukur (87,5%).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9696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Calibration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30752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Robustness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1808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1808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Fairness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12864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Bias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Toxicity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94976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94976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Efficiency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16 skenario inti  ×  7 metrik  ·  warna = dimensi SAFE terkait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57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Robustness (Secure)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16052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Performa worst-case atas transformasi ringan (mis. typo). Dua sifat: </a:t>
            </a:r>
            <a:r>
              <a:rPr sz="1300" b="1">
                <a:solidFill>
                  <a:srgbClr val="F1F5F9"/>
                </a:solidFill>
                <a:latin typeface="Calibri"/>
              </a:rPr>
              <a:t>invariance</a:t>
            </a:r>
            <a:r>
              <a:rPr sz="1300" b="0">
                <a:solidFill>
                  <a:srgbClr val="94A3B8"/>
                </a:solidFill>
                <a:latin typeface="Calibri"/>
              </a:rPr>
              <a:t> (output tak berubah) &amp; </a:t>
            </a:r>
            <a:r>
              <a:rPr sz="1300" b="1">
                <a:solidFill>
                  <a:srgbClr val="F1F5F9"/>
                </a:solidFill>
                <a:latin typeface="Calibri"/>
              </a:rPr>
              <a:t>equivariance</a:t>
            </a:r>
            <a:r>
              <a:rPr sz="1300" b="0">
                <a:solidFill>
                  <a:srgbClr val="94A3B8"/>
                </a:solidFill>
                <a:latin typeface="Calibri"/>
              </a:rPr>
              <a:t> (output berubah sesuai), menangkap robustness lokal di sekitar tiap input.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3912" y="352044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657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Fairness (Fair)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16052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Diukur lewat perturbasi: ubah dialek (SAE→AAE) dan tukar istilah gender, lalu lihat worst-case accuracy. Dipakai karena </a:t>
            </a:r>
            <a:r>
              <a:rPr sz="1300" b="1">
                <a:solidFill>
                  <a:srgbClr val="F1F5F9"/>
                </a:solidFill>
                <a:latin typeface="Calibri"/>
              </a:rPr>
              <a:t>metadata demografi sering tak tersedia</a:t>
            </a:r>
            <a:r>
              <a:rPr sz="1300" b="0">
                <a:solidFill>
                  <a:srgbClr val="94A3B8"/>
                </a:solidFill>
                <a:latin typeface="Calibri"/>
              </a:rPr>
              <a:t>; disparitas langsung diukur bila metadata 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SINTESIS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Peta 3 Paper × 4 Dimensi SAFE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2918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91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Calibri"/>
              </a:rPr>
              <a:t>PAPER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1463040"/>
            <a:ext cx="19202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463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Calibri"/>
              </a:rPr>
              <a:t>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463040"/>
            <a:ext cx="210312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1463040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Calibri"/>
              </a:rPr>
              <a:t>Accountable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463040"/>
            <a:ext cx="182880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1463040"/>
            <a:ext cx="1828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Fair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463040"/>
            <a:ext cx="19202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1463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Explainable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11680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1168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SoFCLR (SSL)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011680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201168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2011680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201168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011680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011680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8 notasi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011680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01168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(parsial)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724912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72491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43F5E"/>
                </a:solidFill>
                <a:latin typeface="Calibri"/>
              </a:rPr>
              <a:t>DecodingTrust (LLM)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86200" y="2724912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6200" y="2724912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AdvGLUE++ ASR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2724912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72491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etika+toxic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724912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724912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base-rate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2724912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2724912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38144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43814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60A5FA"/>
                </a:solidFill>
                <a:latin typeface="Calibri"/>
              </a:rPr>
              <a:t>HELM (LLM)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0" y="3438144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86200" y="3438144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worst-case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3438144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0" y="3438144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toxic+calib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438144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0" y="3438144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perturbasi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438144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3438144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BBF24"/>
                </a:solidFill>
                <a:latin typeface="Calibri"/>
              </a:rPr>
              <a:t>Yang belum tertutup.  </a:t>
            </a:r>
            <a:r>
              <a:rPr sz="1350" b="0">
                <a:solidFill>
                  <a:srgbClr val="F1F5F9"/>
                </a:solidFill>
                <a:latin typeface="Calibri"/>
              </a:rPr>
              <a:t>Explainable dan Accountable masih lemah: hanya diproksikan lewat etika/toxicity, belum ada metrik audit-trail / model-card yang baku.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AutoML tidak punya satu pun paper metrik SAFE yang lolos verifikasi. Ini gap riset nyata, bukan sekadar belum sempat dicari.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Tiga Pelajaran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8308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Metrik mengikuti paradigma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Tiap arsitektur butuh metrik yang disesuaikan: SSL diukur di tahap representasi (tanpa label), LLM diukur lewat benchmark perilaku output.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0896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Benchmark menyatukan dimensi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DecodingTrust &amp; HELM menunjukkan SAFE bisa diukur serempak dalam satu kerangka, bukan empat pengujian terpisah.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9768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43484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Selalu ada trade-off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Akurasi vs fairness, robustness vs efisiensi. Metrik yang baik justru membuat trade-off itu terlihat dan bisa dikelola.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Ketiga paper menyediakan metrik yang bisa langsung dipakai untuk menguji SAFE pada model nyata.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REFERENSI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3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73152" cy="13716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34D399"/>
                </a:solidFill>
                <a:latin typeface="Calibri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91639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Provable Optimization for Adversarial Fair Self-supervised Contrastive Learning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Qi, Hu, Lin &amp; Yang · 2024 · arXiv:2406.05686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Paradigma SSL, dimensi Fairness. Metrik: 8 notasi fairness; metode minimax adversarial.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39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63239"/>
            <a:ext cx="73152" cy="1371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63239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Calibri"/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200399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DecodingTrust: A Comprehensive Assessment of Trustworthiness in GPT Models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Wang et al. · NeurIPS 2023 (Outstanding Paper) · arXiv:2306.11698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LLM, dimensi Secure/Fair/Accountable. 8 perspektif; AdvGLUE++ ASR hingga 89,2%.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572000"/>
            <a:ext cx="73152" cy="13716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60A5FA"/>
                </a:solidFill>
                <a:latin typeface="Calibri"/>
              </a:rPr>
              <a:t>[3]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709160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Holistic Evaluation of Language Models (HELM)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Liang, Bommasani, Lee et al. · TMLR 2023 · arXiv:2211.09110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LLM, evaluasi multi-metrik. 7 metrik × 16 skenario; robustness &amp; fairness worst-case.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