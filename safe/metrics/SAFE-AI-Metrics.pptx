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Bapak Ibu. Topik besar kelompok kami adalah SAFE AI. Empat huruf S-A-F-E adalah singkatan dari empat sifat yang harus dimiliki AI yang baik: Secure atau aman, Accountable atau bisa dipertanggungjawabkan, Fair atau adil, dan Explainable atau bisa dijelaskan. Bagian saya menjawab satu pertanyaan praktis: bagaimana cara kita MENGUKUR apakah sebuah AI benar-benar punya empat sifat itu, bukan sekadar diklaim. Saya jelaskan lewat tiga paper penelitian terkini. Tenang saja, saya pakai bahasa sehari-hari, jadi yang belum familiar dengan AI tetap bisa mengikuti.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 mulai dari dasar. Kenapa AI perlu diukur? Bayangkan AI seperti mobil baru. Sebelum dijual, mobil harus lolos uji rem, uji emisi, dan uji tabrak. SAFE AI itu kira-kira seperti uji kelayakan untuk AI. Empat hal yang diuji: Secure, apakah AI tahan dari serangan atau penipuan. Accountable, apakah ada yang bertanggung jawab dan ada catatan jejaknya. Fair, apakah AI tidak berat sebelah pada kelompok tertentu, misalnya gender atau ras. Dan Explainable, apakah keputusan AI bisa dijelaskan. Masalahnya, kalau perusahaan bilang 'AI kami aman dan adil', itu cuma omongan sampai bisa dibuktikan dengan angka. Mengubah klaim menjadi angka itulah inti dari tiga paper berikut.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Sebelum masuk detail, ini gambaran besarnya supaya kita tidak tersesat. Ketiga paper menjawab pertanyaan yang sama, tapi di tahap berbeda, seperti membangun rumah. Paper pertama, SoFCLR, fokus di tahap MEMBANGUN: bagaimana membuat AI adil sejak awal dilatih. Paper kedua, DecodingTrust, fokus di tahap MENGUJI secara keras: mereka sengaja menyerang AI untuk mencari titik lemahnya. Paper ketiga, HELM, fokus di tahap MEMBANDINGKAN: membuat semacam rapor standar untuk banyak AI sekaligus. Jadi alurnya bangun, uji, lalu bandingkan. Tiga paper ini saling melengkapi, bukan berdiri sendiri-sendiri.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perkenalan singkat ketiga paper. Paper satu, SoFCLR, tahun 2024, membahas keadilan pada jenis AI yang belajar sendiri tanpa diberi contoh jawaban oleh manusia. Paper dua, DecodingTrust, memenangkan penghargaan di konferensi NeurIPS 2023, menguji model sekelas ChatGPT pada delapan aspek kepercayaan. Paper tiga, HELM, dari jurnal TMLR 2023, mengukur tiga puluh model bahasa sekaligus dengan tujuh ukuran. Berikutnya saya bahas satu per satu.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Kita mulai paper pertama, sedikit latar belakang dulu. Ada jenis AI yang belajar sendiri dari jutaan data tanpa label, tanpa kunci jawaban dari manusia. Istilahnya self-supervised learning. Contohnya AI yang belajar dari foto-foto di internet. Masalahnya, kalau datanya mengandung prasangka, AI ikut menyerap prasangka itu diam-diam. Mirip anak yang belajar dari internet tanpa pengawasan, bisa menyerap bias tanpa sadar. Yang lebih sulit, karena tidak ada label, kita susah mengukur seberapa adil AI ini. Paper SoFCLR menyelesaikan dua hal sekaligus: membuat AI lebih adil, dan tetap bisa mengukurnya.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menunjukkan cara kerjanya. Jangan takut dengan rumusnya, intinya sederhana. Ada dua pemain yang saling tarik-menarik, seperti permainan kucing dan tikus. Pemain pertama bertugas membuat ringkasan data yang bagus, tapi sekaligus menyembunyikan informasi sensitif seperti gender. Pemain kedua, namanya discriminator, bertugas menebak gender dari ringkasan tadi. Kalau si penebak gagal, artinya informasi sensitif berhasil disembunyikan, dan itu tanda AI jadi lebih adil. Huruf alfa di rumus ibarat kenop pengatur: mau lebih mengutamakan keadilan, atau lebih mengutamakan ketepatan. Jadi rumus ini hanya cara matematis menuliskan permainan tarik-menarik 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Bagaimana proses latihannya berjalan? Lima langkah di kiri ini diulang ribuan kali. Singkatnya: ambil sedikit data, perbaiki sedikit, ulangi. Yang menarik ada di kotak kanan. Biasanya jenis AI ini butuh komputer sangat besar untuk dilatih. Temuan paper ini adalah trik 'mencicil rata-rata', sehingga tidak perlu komputer raksasa. Di kotak bawah, mereka membuktikan secara matematis bahwa metode ini pasti sampai ke hasil yang baik, jadi bukan sekadar coba-coba. Untuk audiens umum, cukup ingat: metode ini lebih hemat dan terbukti.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Kenapa keadilan pada AI jenis ini sulit dicapai? Tiga alasan. Pertama, tidak ada label, jadi cara mengukur keadilan yang biasa tidak bisa langsung dipakai. Kedua, perhitungannya rumit karena harus membandingkan setiap data dengan seluruh data lain. Ketiga, dan ini penting, penulis menegaskan AI tidak otomatis adil dengan sendirinya. Kalau tidak sengaja diarahkan untuk adil, ia tetap menyerap bias dari data. Pesan moralnya: keadilan harus dirancang, bukan diharapkan muncul sendiri.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rangkuman paper pertama dalam empat kotak. Metode: permainan tarik-menarik tadi. Kontribusi: ini metode pertama yang adil sekaligus terbukti dan hemat. Hasil: diuji pada dua kumpulan foto wajah bernama CelebA dan UTKFace. Angka yang turun di sini justru bagus, artinya ketimpangan berkurang alias makin adil, dan ketepatannya tetap terjaga sekitar delapan puluh lima persen. Future research, atau rencana lanjutan: penulis ingin memperluas ke data jenis lain seperti suara dan video. Yang perlu diingat: lebih adil, tanpa mengorbankan ketepatan.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Masuk paper kedua, DecodingTrust. Paper ini menguji model sekelas ChatGPT, yaitu GPT 3.5 dan GPT 4. Ibarat medical check-up menyeluruh, mereka memeriksa delapan aspek. Saya kelompokkan ke tiga warna sesuai SAFE. Merah untuk aman: ketahanan terhadap serangan, terhadap data aneh, dan kebocoran data pribadi. Hijau untuk adil: apakah model punya stereotip atau berat sebelah. Biru untuk tanggung jawab: soal etika dan ucapan kasar. Di kotak bawah ada temuan kuncinya, yang saya bahas lebih jelas di slide berikut.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kedua. Metode: menguji GPT dengan soal-soal jebakan, termasuk serangan yang sengaja dibuat. Temuan pentingnya mengejutkan: GPT 4 lebih pintar dan lebih sopan dalam kondisi normal, tapi justru lebih mudah dikadali kalau ada yang sengaja menjebak. Istilahnya jailbreak, yaitu mengakali AI agar melanggar aturannya. Hasil: dengan trik tertentu, serangan berhasil sampai delapan puluh sembilan persen pada GPT 4. Soal keadilan ada tarik-ulur: makin akurat justru bisa makin tidak adil pada data yang timpang. Rencana lanjutan: menguji dengan percakapan yang lebih panjang dan berliku.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ketiga, HELM. Kalau dua paper tadi mendalami satu hal, HELM ini melebar. Bayangkan situs pembanding produk, atau rapor sekolah dengan banyak mata pelajaran. HELM memberi nilai tujuh ukuran sekaligus, mulai dari ketepatan, ketahanan, sampai keadilan, untuk tiga puluh model AI berbeda. Tujuannya supaya semua model bisa dibandingkan secara adil dengan ukuran yang sama. Di bawah, saya tunjukkan dua contoh: cara mereka mengukur ketahanan, dan cara mengukur keadilan, misalnya dengan mengubah dialek bahasa.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ketiga. Metode: rapor tujuh ukuran untuk enam belas jenis tugas. Kontribusi: mereka membuat perbandingan jadi transparan, dan jujur menunjukkan apa yang belum terukur. Hasil menarik: model yang lebih kecil tapi dilatih dengan baik bisa mengalahkan model raksasa, jadi besar belum tentu lebih pintar. Mereka juga menemukan AI bekerja lebih buruk untuk dialek kelompok minoritas, ini bukti ketidakadilan yang nyata. Rencana lanjutan: menambah cakupan bahasa selain Inggris dan tugas yang lebih interaktif.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menyatukan ketiganya dalam satu tabel: tiga paper di baris, empat dimensi SAFE di kolom. Terlihat jelas mana yang sudah terukur dan mana yang belum. Ini bagian jujurnya, penting kalau ada pertanyaan dari penguji. Dua dimensi, yaitu Explainable dan Accountable, masih lemah, belum punya alat ukur yang baku. Lalu untuk AutoML, yaitu AI yang merancang AI lain, kami tidak menemukan satu pun penelitian yang lolos pengecekan. Ini bukan karena malas mencari, tapi memang celah riset yang nyata. Mengakui keterbatasan ini justru membuat presentasi kita lebih kuat.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untuk dibawa pulang. Satu, alat ukur mengikuti jenis AI-nya, tidak ada satu ukuran untuk semua. Dua, ada alat ukur gabungan seperti DecodingTrust dan HELM yang menilai banyak aspek sekaligus. Tiga, selalu ada tarik-ulur, misalnya antara akurat dan adil, dan justru alat ukur yang baik membuat tarik-ulur itu terlihat sehingga bisa dikelola. Kalimat penutup: ketiga paper ini memberi alat yang bisa langsung dipakai untuk menguji apakah sebuah AI benar-benar SAFE.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ketiga sumbernya, semua bisa diakses gratis di arXiv. Paper satu SoFCLR untuk keadilan, paper dua DecodingTrust untuk kepercayaan model bahasa, dan paper tiga HELM untuk perbandingan menyeluruh. Terima kasih, saya siap menerima pertanyaan.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554480"/>
            <a:ext cx="11064240" cy="914400"/>
          </a:xfrm>
          <a:prstGeom prst="rect">
            <a:avLst/>
          </a:prstGeom>
          <a:noFill/>
        </p:spPr>
        <p:txBody>
          <a:bodyPr wrap="square" anchor="t">
            <a:spAutoFit/>
          </a:bodyPr>
          <a:lstStyle/>
          <a:p>
            <a:pPr algn="ctr">
              <a:lnSpc>
                <a:spcPct val="105000"/>
              </a:lnSpc>
              <a:spcAft>
                <a:spcPts val="600"/>
              </a:spcAft>
            </a:pPr>
            <a:r>
              <a:rPr sz="5000" b="1">
                <a:solidFill>
                  <a:srgbClr val="818CF8"/>
                </a:solidFill>
                <a:latin typeface="Calibri"/>
              </a:rPr>
              <a:t>METRIK SAFE AI</a:t>
            </a:r>
          </a:p>
        </p:txBody>
      </p:sp>
      <p:sp>
        <p:nvSpPr>
          <p:cNvPr id="4" name="TextBox 3"/>
          <p:cNvSpPr txBox="1"/>
          <p:nvPr/>
        </p:nvSpPr>
        <p:spPr>
          <a:xfrm>
            <a:off x="548640" y="2514600"/>
            <a:ext cx="11064240" cy="731520"/>
          </a:xfrm>
          <a:prstGeom prst="rect">
            <a:avLst/>
          </a:prstGeom>
          <a:noFill/>
        </p:spPr>
        <p:txBody>
          <a:bodyPr wrap="square" anchor="t">
            <a:spAutoFit/>
          </a:bodyPr>
          <a:lstStyle/>
          <a:p>
            <a:pPr algn="ctr">
              <a:lnSpc>
                <a:spcPct val="105000"/>
              </a:lnSpc>
              <a:spcAft>
                <a:spcPts val="600"/>
              </a:spcAft>
            </a:pPr>
            <a:r>
              <a:rPr sz="2400" b="1">
                <a:solidFill>
                  <a:srgbClr val="F1F5F9"/>
                </a:solidFill>
                <a:latin typeface="Calibri"/>
              </a:rPr>
              <a:t>Mengukur Secure, Accountable, Fair &amp; Explainable</a:t>
            </a:r>
          </a:p>
        </p:txBody>
      </p:sp>
      <p:sp>
        <p:nvSpPr>
          <p:cNvPr id="5" name="TextBox 4"/>
          <p:cNvSpPr txBox="1"/>
          <p:nvPr/>
        </p:nvSpPr>
        <p:spPr>
          <a:xfrm>
            <a:off x="548640" y="3200400"/>
            <a:ext cx="11064240" cy="548640"/>
          </a:xfrm>
          <a:prstGeom prst="rect">
            <a:avLst/>
          </a:prstGeom>
          <a:noFill/>
        </p:spPr>
        <p:txBody>
          <a:bodyPr wrap="square" anchor="t">
            <a:spAutoFit/>
          </a:bodyPr>
          <a:lstStyle/>
          <a:p>
            <a:pPr algn="ctr">
              <a:lnSpc>
                <a:spcPct val="105000"/>
              </a:lnSpc>
              <a:spcAft>
                <a:spcPts val="600"/>
              </a:spcAft>
            </a:pPr>
            <a:r>
              <a:rPr sz="1800" b="1">
                <a:solidFill>
                  <a:srgbClr val="C7D2FE"/>
                </a:solidFill>
                <a:latin typeface="Calibri"/>
              </a:rPr>
              <a:t>pada Self-Supervised Learning &amp; Transformer/LLM</a:t>
            </a:r>
          </a:p>
        </p:txBody>
      </p:sp>
      <p:sp>
        <p:nvSpPr>
          <p:cNvPr id="6" name="Rectangle 5"/>
          <p:cNvSpPr/>
          <p:nvPr/>
        </p:nvSpPr>
        <p:spPr>
          <a:xfrm>
            <a:off x="4937760" y="4069080"/>
            <a:ext cx="2286000" cy="18288"/>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251960"/>
            <a:ext cx="11064240" cy="457200"/>
          </a:xfrm>
          <a:prstGeom prst="rect">
            <a:avLst/>
          </a:prstGeom>
          <a:noFill/>
        </p:spPr>
        <p:txBody>
          <a:bodyPr wrap="square" anchor="t">
            <a:spAutoFit/>
          </a:bodyPr>
          <a:lstStyle/>
          <a:p>
            <a:pPr algn="ctr">
              <a:lnSpc>
                <a:spcPct val="105000"/>
              </a:lnSpc>
              <a:spcAft>
                <a:spcPts val="600"/>
              </a:spcAft>
            </a:pPr>
            <a:r>
              <a:rPr sz="1400" b="0">
                <a:solidFill>
                  <a:srgbClr val="94A3B8"/>
                </a:solidFill>
                <a:latin typeface="Calibri"/>
              </a:rPr>
              <a:t>Telaah 3 paper kunci  ·  Trend Terkini Kecerdasan Mesin</a:t>
            </a:r>
          </a:p>
        </p:txBody>
      </p:sp>
      <p:sp>
        <p:nvSpPr>
          <p:cNvPr id="8" name="Rectangle 7"/>
          <p:cNvSpPr/>
          <p:nvPr/>
        </p:nvSpPr>
        <p:spPr>
          <a:xfrm>
            <a:off x="1554480" y="502920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SoFCLR (2024)</a:t>
            </a:r>
          </a:p>
        </p:txBody>
      </p:sp>
      <p:sp>
        <p:nvSpPr>
          <p:cNvPr id="10" name="Rectangle 9"/>
          <p:cNvSpPr/>
          <p:nvPr/>
        </p:nvSpPr>
        <p:spPr>
          <a:xfrm>
            <a:off x="4754880" y="502920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DecodingTrust (NeurIPS'23)</a:t>
            </a:r>
          </a:p>
        </p:txBody>
      </p:sp>
      <p:sp>
        <p:nvSpPr>
          <p:cNvPr id="12" name="Rectangle 11"/>
          <p:cNvSpPr/>
          <p:nvPr/>
        </p:nvSpPr>
        <p:spPr>
          <a:xfrm>
            <a:off x="7955279" y="502920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502920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HELM (TMLR'23)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PENGANTAR</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Kenapa Butuh Metrik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822960"/>
          </a:xfrm>
          <a:prstGeom prst="rect">
            <a:avLst/>
          </a:prstGeom>
          <a:noFill/>
        </p:spPr>
        <p:txBody>
          <a:bodyPr wrap="square" anchor="t">
            <a:spAutoFit/>
          </a:bodyPr>
          <a:lstStyle/>
          <a:p>
            <a:pPr algn="l">
              <a:lnSpc>
                <a:spcPct val="120000"/>
              </a:lnSpc>
              <a:spcAft>
                <a:spcPts val="600"/>
              </a:spcAft>
            </a:pPr>
            <a:r>
              <a:rPr sz="1600" b="0">
                <a:solidFill>
                  <a:srgbClr val="94A3B8"/>
                </a:solidFill>
                <a:latin typeface="Calibri"/>
              </a:rPr>
              <a:t>SAFE = </a:t>
            </a:r>
            <a:r>
              <a:rPr sz="1600" b="1">
                <a:solidFill>
                  <a:srgbClr val="F43F5E"/>
                </a:solidFill>
                <a:latin typeface="Calibri"/>
              </a:rPr>
              <a:t>S</a:t>
            </a:r>
            <a:r>
              <a:rPr sz="1600" b="0">
                <a:solidFill>
                  <a:srgbClr val="94A3B8"/>
                </a:solidFill>
                <a:latin typeface="Calibri"/>
              </a:rPr>
              <a:t>ecure  ·  </a:t>
            </a:r>
            <a:r>
              <a:rPr sz="1600" b="1">
                <a:solidFill>
                  <a:srgbClr val="60A5FA"/>
                </a:solidFill>
                <a:latin typeface="Calibri"/>
              </a:rPr>
              <a:t>A</a:t>
            </a:r>
            <a:r>
              <a:rPr sz="1600" b="0">
                <a:solidFill>
                  <a:srgbClr val="94A3B8"/>
                </a:solidFill>
                <a:latin typeface="Calibri"/>
              </a:rPr>
              <a:t>ccountable  ·  </a:t>
            </a:r>
            <a:r>
              <a:rPr sz="1600" b="1">
                <a:solidFill>
                  <a:srgbClr val="34D399"/>
                </a:solidFill>
                <a:latin typeface="Calibri"/>
              </a:rPr>
              <a:t>F</a:t>
            </a:r>
            <a:r>
              <a:rPr sz="1600" b="0">
                <a:solidFill>
                  <a:srgbClr val="94A3B8"/>
                </a:solidFill>
                <a:latin typeface="Calibri"/>
              </a:rPr>
              <a:t>air  ·  </a:t>
            </a:r>
            <a:r>
              <a:rPr sz="1600" b="1">
                <a:solidFill>
                  <a:srgbClr val="FBBF24"/>
                </a:solidFill>
                <a:latin typeface="Calibri"/>
              </a:rPr>
              <a:t>E</a:t>
            </a:r>
            <a:r>
              <a:rPr sz="1600" b="0">
                <a:solidFill>
                  <a:srgbClr val="94A3B8"/>
                </a:solidFill>
                <a:latin typeface="Calibri"/>
              </a:rPr>
              <a:t>xplainable</a:t>
            </a:r>
            <a:r>
              <a:rPr sz="1600" b="0">
                <a:solidFill>
                  <a:srgbClr val="94A3B8"/>
                </a:solidFill>
                <a:latin typeface="Calibri"/>
              </a:rPr>
              <a:t>.  Empat dimensi ini hanya bermakna jika bisa </a:t>
            </a:r>
            <a:r>
              <a:rPr sz="1600" b="1">
                <a:solidFill>
                  <a:srgbClr val="C7D2FE"/>
                </a:solidFill>
                <a:latin typeface="Calibri"/>
              </a:rPr>
              <a:t>diukur dengan angka</a:t>
            </a:r>
            <a:r>
              <a:rPr sz="1600" b="0">
                <a:solidFill>
                  <a:srgbClr val="94A3B8"/>
                </a:solidFill>
                <a:latin typeface="Calibri"/>
              </a:rPr>
              <a:t>.</a:t>
            </a:r>
          </a:p>
        </p:txBody>
      </p:sp>
      <p:sp>
        <p:nvSpPr>
          <p:cNvPr id="8" name="Rectangle 7"/>
          <p:cNvSpPr/>
          <p:nvPr/>
        </p:nvSpPr>
        <p:spPr>
          <a:xfrm>
            <a:off x="548640" y="2468880"/>
            <a:ext cx="2679192" cy="2377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51760"/>
            <a:ext cx="2286000" cy="640080"/>
          </a:xfrm>
          <a:prstGeom prst="rect">
            <a:avLst/>
          </a:prstGeom>
          <a:noFill/>
        </p:spPr>
        <p:txBody>
          <a:bodyPr wrap="square" anchor="t">
            <a:spAutoFit/>
          </a:bodyPr>
          <a:lstStyle/>
          <a:p>
            <a:pPr algn="l">
              <a:lnSpc>
                <a:spcPct val="105000"/>
              </a:lnSpc>
              <a:spcAft>
                <a:spcPts val="600"/>
              </a:spcAft>
            </a:pPr>
            <a:r>
              <a:rPr sz="3200" b="1">
                <a:solidFill>
                  <a:srgbClr val="F43F5E"/>
                </a:solidFill>
                <a:latin typeface="Calibri"/>
              </a:rPr>
              <a:t>S</a:t>
            </a:r>
          </a:p>
        </p:txBody>
      </p:sp>
      <p:sp>
        <p:nvSpPr>
          <p:cNvPr id="10" name="TextBox 9"/>
          <p:cNvSpPr txBox="1"/>
          <p:nvPr/>
        </p:nvSpPr>
        <p:spPr>
          <a:xfrm>
            <a:off x="777240"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Secure</a:t>
            </a:r>
          </a:p>
        </p:txBody>
      </p:sp>
      <p:sp>
        <p:nvSpPr>
          <p:cNvPr id="11" name="TextBox 10"/>
          <p:cNvSpPr txBox="1"/>
          <p:nvPr/>
        </p:nvSpPr>
        <p:spPr>
          <a:xfrm>
            <a:off x="777240"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Attack Success Rate (ASR),
certified accuracy, robust acc.</a:t>
            </a:r>
          </a:p>
        </p:txBody>
      </p:sp>
      <p:sp>
        <p:nvSpPr>
          <p:cNvPr id="12" name="Rectangle 11"/>
          <p:cNvSpPr/>
          <p:nvPr/>
        </p:nvSpPr>
        <p:spPr>
          <a:xfrm>
            <a:off x="3328416" y="2468880"/>
            <a:ext cx="2679192" cy="2377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2651760"/>
            <a:ext cx="2286000" cy="640080"/>
          </a:xfrm>
          <a:prstGeom prst="rect">
            <a:avLst/>
          </a:prstGeom>
          <a:noFill/>
        </p:spPr>
        <p:txBody>
          <a:bodyPr wrap="square" anchor="t">
            <a:spAutoFit/>
          </a:bodyPr>
          <a:lstStyle/>
          <a:p>
            <a:pPr algn="l">
              <a:lnSpc>
                <a:spcPct val="105000"/>
              </a:lnSpc>
              <a:spcAft>
                <a:spcPts val="600"/>
              </a:spcAft>
            </a:pPr>
            <a:r>
              <a:rPr sz="3200" b="1">
                <a:solidFill>
                  <a:srgbClr val="60A5FA"/>
                </a:solidFill>
                <a:latin typeface="Calibri"/>
              </a:rPr>
              <a:t>A</a:t>
            </a:r>
          </a:p>
        </p:txBody>
      </p:sp>
      <p:sp>
        <p:nvSpPr>
          <p:cNvPr id="14" name="TextBox 13"/>
          <p:cNvSpPr txBox="1"/>
          <p:nvPr/>
        </p:nvSpPr>
        <p:spPr>
          <a:xfrm>
            <a:off x="3557016"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Accountable</a:t>
            </a:r>
          </a:p>
        </p:txBody>
      </p:sp>
      <p:sp>
        <p:nvSpPr>
          <p:cNvPr id="15" name="TextBox 14"/>
          <p:cNvSpPr txBox="1"/>
          <p:nvPr/>
        </p:nvSpPr>
        <p:spPr>
          <a:xfrm>
            <a:off x="3557016"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Audit trail, model card,
ethics &amp; toxicity score.</a:t>
            </a:r>
          </a:p>
        </p:txBody>
      </p:sp>
      <p:sp>
        <p:nvSpPr>
          <p:cNvPr id="16" name="Rectangle 15"/>
          <p:cNvSpPr/>
          <p:nvPr/>
        </p:nvSpPr>
        <p:spPr>
          <a:xfrm>
            <a:off x="6108192" y="2468880"/>
            <a:ext cx="2679192" cy="2377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2651760"/>
            <a:ext cx="2286000" cy="640080"/>
          </a:xfrm>
          <a:prstGeom prst="rect">
            <a:avLst/>
          </a:prstGeom>
          <a:noFill/>
        </p:spPr>
        <p:txBody>
          <a:bodyPr wrap="square" anchor="t">
            <a:spAutoFit/>
          </a:bodyPr>
          <a:lstStyle/>
          <a:p>
            <a:pPr algn="l">
              <a:lnSpc>
                <a:spcPct val="105000"/>
              </a:lnSpc>
              <a:spcAft>
                <a:spcPts val="600"/>
              </a:spcAft>
            </a:pPr>
            <a:r>
              <a:rPr sz="3200" b="1">
                <a:solidFill>
                  <a:srgbClr val="34D399"/>
                </a:solidFill>
                <a:latin typeface="Calibri"/>
              </a:rPr>
              <a:t>F</a:t>
            </a:r>
          </a:p>
        </p:txBody>
      </p:sp>
      <p:sp>
        <p:nvSpPr>
          <p:cNvPr id="18" name="TextBox 17"/>
          <p:cNvSpPr txBox="1"/>
          <p:nvPr/>
        </p:nvSpPr>
        <p:spPr>
          <a:xfrm>
            <a:off x="6336792"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Fair</a:t>
            </a:r>
          </a:p>
        </p:txBody>
      </p:sp>
      <p:sp>
        <p:nvSpPr>
          <p:cNvPr id="19" name="TextBox 18"/>
          <p:cNvSpPr txBox="1"/>
          <p:nvPr/>
        </p:nvSpPr>
        <p:spPr>
          <a:xfrm>
            <a:off x="6336792"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Demographic parity,
equalized odds, base-rate parity.</a:t>
            </a:r>
          </a:p>
        </p:txBody>
      </p:sp>
      <p:sp>
        <p:nvSpPr>
          <p:cNvPr id="20" name="Rectangle 19"/>
          <p:cNvSpPr/>
          <p:nvPr/>
        </p:nvSpPr>
        <p:spPr>
          <a:xfrm>
            <a:off x="8887967" y="2468880"/>
            <a:ext cx="2679192" cy="23774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16567" y="2651760"/>
            <a:ext cx="2286000" cy="640080"/>
          </a:xfrm>
          <a:prstGeom prst="rect">
            <a:avLst/>
          </a:prstGeom>
          <a:noFill/>
        </p:spPr>
        <p:txBody>
          <a:bodyPr wrap="square" anchor="t">
            <a:spAutoFit/>
          </a:bodyPr>
          <a:lstStyle/>
          <a:p>
            <a:pPr algn="l">
              <a:lnSpc>
                <a:spcPct val="105000"/>
              </a:lnSpc>
              <a:spcAft>
                <a:spcPts val="600"/>
              </a:spcAft>
            </a:pPr>
            <a:r>
              <a:rPr sz="3200" b="1">
                <a:solidFill>
                  <a:srgbClr val="FBBF24"/>
                </a:solidFill>
                <a:latin typeface="Calibri"/>
              </a:rPr>
              <a:t>E</a:t>
            </a:r>
          </a:p>
        </p:txBody>
      </p:sp>
      <p:sp>
        <p:nvSpPr>
          <p:cNvPr id="22" name="TextBox 21"/>
          <p:cNvSpPr txBox="1"/>
          <p:nvPr/>
        </p:nvSpPr>
        <p:spPr>
          <a:xfrm>
            <a:off x="9116567"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Explainable</a:t>
            </a:r>
          </a:p>
        </p:txBody>
      </p:sp>
      <p:sp>
        <p:nvSpPr>
          <p:cNvPr id="23" name="TextBox 22"/>
          <p:cNvSpPr txBox="1"/>
          <p:nvPr/>
        </p:nvSpPr>
        <p:spPr>
          <a:xfrm>
            <a:off x="9116567"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Faithfulness, plausibility,
korelasi dgn SHAP/LIME.</a:t>
            </a:r>
          </a:p>
        </p:txBody>
      </p:sp>
      <p:sp>
        <p:nvSpPr>
          <p:cNvPr id="24" name="Rectangle 23"/>
          <p:cNvSpPr/>
          <p:nvPr/>
        </p:nvSpPr>
        <p:spPr>
          <a:xfrm>
            <a:off x="548640" y="5120640"/>
            <a:ext cx="11091672" cy="10972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212080"/>
            <a:ext cx="10607040" cy="91440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Masalahnya: </a:t>
            </a:r>
            <a:r>
              <a:rPr sz="1400" b="0">
                <a:solidFill>
                  <a:srgbClr val="F1F5F9"/>
                </a:solidFill>
                <a:latin typeface="Calibri"/>
              </a:rPr>
              <a:t>metrik klasik mengandaikan model dengan label dan output yang jelas. SSL belajar tanpa label, dan LLM mengeluarkan teks bebas. Ketiga paper berikut menjawab bagaimana cara mengukurnya.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BENANG MERAH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Bagaimana Ketiga Paper Terhubung</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11091672" cy="8686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71600"/>
            <a:ext cx="10607040" cy="86868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Pertanyaan bersama:  </a:t>
            </a:r>
            <a:r>
              <a:rPr sz="1400" b="0">
                <a:solidFill>
                  <a:srgbClr val="F1F5F9"/>
                </a:solidFill>
                <a:latin typeface="Calibri"/>
              </a:rPr>
              <a:t>bagaimana dimensi SAFE ditegakkan, lalu diukur, pada model nyata?</a:t>
            </a:r>
          </a:p>
        </p:txBody>
      </p:sp>
      <p:sp>
        <p:nvSpPr>
          <p:cNvPr id="9" name="Rectangle 8"/>
          <p:cNvSpPr/>
          <p:nvPr/>
        </p:nvSpPr>
        <p:spPr>
          <a:xfrm>
            <a:off x="548640" y="2468880"/>
            <a:ext cx="3593592"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59" y="269748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9748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SAAT MELATIH</a:t>
            </a:r>
          </a:p>
        </p:txBody>
      </p:sp>
      <p:sp>
        <p:nvSpPr>
          <p:cNvPr id="12" name="TextBox 11"/>
          <p:cNvSpPr txBox="1"/>
          <p:nvPr/>
        </p:nvSpPr>
        <p:spPr>
          <a:xfrm>
            <a:off x="822959"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SoFCLR</a:t>
            </a:r>
          </a:p>
        </p:txBody>
      </p:sp>
      <p:sp>
        <p:nvSpPr>
          <p:cNvPr id="13" name="TextBox 12"/>
          <p:cNvSpPr txBox="1"/>
          <p:nvPr/>
        </p:nvSpPr>
        <p:spPr>
          <a:xfrm>
            <a:off x="822959" y="3749039"/>
            <a:ext cx="310896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Bangun model fair</a:t>
            </a:r>
          </a:p>
        </p:txBody>
      </p:sp>
      <p:sp>
        <p:nvSpPr>
          <p:cNvPr id="14" name="TextBox 13"/>
          <p:cNvSpPr txBox="1"/>
          <p:nvPr/>
        </p:nvSpPr>
        <p:spPr>
          <a:xfrm>
            <a:off x="822959"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Menanam fairness ke representasi SSL sejak awal, sebelum label ada (intervensi by-design).</a:t>
            </a:r>
          </a:p>
        </p:txBody>
      </p:sp>
      <p:sp>
        <p:nvSpPr>
          <p:cNvPr id="15" name="TextBox 14"/>
          <p:cNvSpPr txBox="1"/>
          <p:nvPr/>
        </p:nvSpPr>
        <p:spPr>
          <a:xfrm>
            <a:off x="4142232"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16" name="Rectangle 15"/>
          <p:cNvSpPr/>
          <p:nvPr/>
        </p:nvSpPr>
        <p:spPr>
          <a:xfrm>
            <a:off x="4261103" y="2468880"/>
            <a:ext cx="3593592"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5423" y="269748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3" y="269748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UJI MENDALAM</a:t>
            </a:r>
          </a:p>
        </p:txBody>
      </p:sp>
      <p:sp>
        <p:nvSpPr>
          <p:cNvPr id="19" name="TextBox 18"/>
          <p:cNvSpPr txBox="1"/>
          <p:nvPr/>
        </p:nvSpPr>
        <p:spPr>
          <a:xfrm>
            <a:off x="4535423"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DecodingTrust</a:t>
            </a:r>
          </a:p>
        </p:txBody>
      </p:sp>
      <p:sp>
        <p:nvSpPr>
          <p:cNvPr id="20" name="TextBox 19"/>
          <p:cNvSpPr txBox="1"/>
          <p:nvPr/>
        </p:nvSpPr>
        <p:spPr>
          <a:xfrm>
            <a:off x="4535423" y="3749039"/>
            <a:ext cx="310896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Cari titik rapuh</a:t>
            </a:r>
          </a:p>
        </p:txBody>
      </p:sp>
      <p:sp>
        <p:nvSpPr>
          <p:cNvPr id="21" name="TextBox 20"/>
          <p:cNvSpPr txBox="1"/>
          <p:nvPr/>
        </p:nvSpPr>
        <p:spPr>
          <a:xfrm>
            <a:off x="4535423"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Stress-test LLM dengan serangan &amp; prompt adversarial pada 8 perspektif trustworthiness.</a:t>
            </a:r>
          </a:p>
        </p:txBody>
      </p:sp>
      <p:sp>
        <p:nvSpPr>
          <p:cNvPr id="22" name="TextBox 21"/>
          <p:cNvSpPr txBox="1"/>
          <p:nvPr/>
        </p:nvSpPr>
        <p:spPr>
          <a:xfrm>
            <a:off x="7854696"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23" name="Rectangle 22"/>
          <p:cNvSpPr/>
          <p:nvPr/>
        </p:nvSpPr>
        <p:spPr>
          <a:xfrm>
            <a:off x="7973567" y="2468880"/>
            <a:ext cx="3593592" cy="246888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47888" y="269748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69748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UJI MENYELURUH</a:t>
            </a:r>
          </a:p>
        </p:txBody>
      </p:sp>
      <p:sp>
        <p:nvSpPr>
          <p:cNvPr id="26" name="TextBox 25"/>
          <p:cNvSpPr txBox="1"/>
          <p:nvPr/>
        </p:nvSpPr>
        <p:spPr>
          <a:xfrm>
            <a:off x="8247888"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HELM</a:t>
            </a:r>
          </a:p>
        </p:txBody>
      </p:sp>
      <p:sp>
        <p:nvSpPr>
          <p:cNvPr id="27" name="TextBox 26"/>
          <p:cNvSpPr txBox="1"/>
          <p:nvPr/>
        </p:nvSpPr>
        <p:spPr>
          <a:xfrm>
            <a:off x="8247888" y="3749039"/>
            <a:ext cx="3108960"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Bandingkan terbuka</a:t>
            </a:r>
          </a:p>
        </p:txBody>
      </p:sp>
      <p:sp>
        <p:nvSpPr>
          <p:cNvPr id="28" name="TextBox 27"/>
          <p:cNvSpPr txBox="1"/>
          <p:nvPr/>
        </p:nvSpPr>
        <p:spPr>
          <a:xfrm>
            <a:off x="8247888"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Benchmark terstandar 7 metrik lintas 30 model agar bisa dibandingkan secara transparan.</a:t>
            </a:r>
          </a:p>
        </p:txBody>
      </p:sp>
      <p:sp>
        <p:nvSpPr>
          <p:cNvPr id="29" name="Rectangle 28"/>
          <p:cNvSpPr/>
          <p:nvPr/>
        </p:nvSpPr>
        <p:spPr>
          <a:xfrm>
            <a:off x="548640" y="5166360"/>
            <a:ext cx="11091672" cy="105156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166360"/>
            <a:ext cx="10607040" cy="1051560"/>
          </a:xfrm>
          <a:prstGeom prst="rect">
            <a:avLst/>
          </a:prstGeom>
          <a:noFill/>
        </p:spPr>
        <p:txBody>
          <a:bodyPr wrap="square" anchor="ctr">
            <a:spAutoFit/>
          </a:bodyPr>
          <a:lstStyle/>
          <a:p>
            <a:pPr algn="l">
              <a:lnSpc>
                <a:spcPct val="120000"/>
              </a:lnSpc>
              <a:spcAft>
                <a:spcPts val="600"/>
              </a:spcAft>
            </a:pPr>
            <a:r>
              <a:rPr sz="1350" b="0">
                <a:solidFill>
                  <a:srgbClr val="F1F5F9"/>
                </a:solidFill>
                <a:latin typeface="Calibri"/>
              </a:rPr>
              <a:t>SoFCLR menegakkan SAFE saat model dilatih; DecodingTrust dan HELM mengukurnya setelah model jadi. Ketiganya menutup alur </a:t>
            </a:r>
            <a:r>
              <a:rPr sz="1350" b="1">
                <a:solidFill>
                  <a:srgbClr val="C7D2FE"/>
                </a:solidFill>
                <a:latin typeface="Calibri"/>
              </a:rPr>
              <a:t>bangun, uji, dan bandingkan</a:t>
            </a:r>
            <a:r>
              <a:rPr sz="1350" b="0">
                <a:solidFill>
                  <a:srgbClr val="F1F5F9"/>
                </a:solidFill>
                <a:latin typeface="Calibri"/>
              </a:rPr>
              <a:t> model yang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PETA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Tiga Paper yang Dipakai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593592" cy="4663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45920"/>
            <a:ext cx="3108960" cy="640080"/>
          </a:xfrm>
          <a:prstGeom prst="rect">
            <a:avLst/>
          </a:prstGeom>
          <a:noFill/>
        </p:spPr>
        <p:txBody>
          <a:bodyPr wrap="square" anchor="t">
            <a:spAutoFit/>
          </a:bodyPr>
          <a:lstStyle/>
          <a:p>
            <a:pPr algn="l">
              <a:lnSpc>
                <a:spcPct val="105000"/>
              </a:lnSpc>
              <a:spcAft>
                <a:spcPts val="600"/>
              </a:spcAft>
            </a:pPr>
            <a:r>
              <a:rPr sz="3000" b="1">
                <a:solidFill>
                  <a:srgbClr val="34D399"/>
                </a:solidFill>
                <a:latin typeface="Calibri"/>
              </a:rPr>
              <a:t>1</a:t>
            </a:r>
          </a:p>
        </p:txBody>
      </p:sp>
      <p:sp>
        <p:nvSpPr>
          <p:cNvPr id="9" name="TextBox 8"/>
          <p:cNvSpPr txBox="1"/>
          <p:nvPr/>
        </p:nvSpPr>
        <p:spPr>
          <a:xfrm>
            <a:off x="822959"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SoFCLR</a:t>
            </a:r>
          </a:p>
        </p:txBody>
      </p:sp>
      <p:sp>
        <p:nvSpPr>
          <p:cNvPr id="10" name="Rectangle 9"/>
          <p:cNvSpPr/>
          <p:nvPr/>
        </p:nvSpPr>
        <p:spPr>
          <a:xfrm>
            <a:off x="822959" y="2880360"/>
            <a:ext cx="237744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880360"/>
            <a:ext cx="237744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SSL / Contrastive</a:t>
            </a:r>
          </a:p>
        </p:txBody>
      </p:sp>
      <p:sp>
        <p:nvSpPr>
          <p:cNvPr id="12" name="TextBox 11"/>
          <p:cNvSpPr txBox="1"/>
          <p:nvPr/>
        </p:nvSpPr>
        <p:spPr>
          <a:xfrm>
            <a:off x="822959"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Qi, Hu, Lin &amp; Yang
arXiv:2406.05686 · 2024</a:t>
            </a:r>
          </a:p>
        </p:txBody>
      </p:sp>
      <p:sp>
        <p:nvSpPr>
          <p:cNvPr id="13" name="Rectangle 12"/>
          <p:cNvSpPr/>
          <p:nvPr/>
        </p:nvSpPr>
        <p:spPr>
          <a:xfrm>
            <a:off x="822959"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Bagaimana mengukur &amp; memperbaiki FAIRNESS pada representasi yang dipelajari tanpa label.</a:t>
            </a:r>
          </a:p>
        </p:txBody>
      </p:sp>
      <p:sp>
        <p:nvSpPr>
          <p:cNvPr id="15" name="Rectangle 14"/>
          <p:cNvSpPr/>
          <p:nvPr/>
        </p:nvSpPr>
        <p:spPr>
          <a:xfrm>
            <a:off x="4261103" y="1463040"/>
            <a:ext cx="3593592" cy="4663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3" y="1645920"/>
            <a:ext cx="3108960" cy="640080"/>
          </a:xfrm>
          <a:prstGeom prst="rect">
            <a:avLst/>
          </a:prstGeom>
          <a:noFill/>
        </p:spPr>
        <p:txBody>
          <a:bodyPr wrap="square" anchor="t">
            <a:spAutoFit/>
          </a:bodyPr>
          <a:lstStyle/>
          <a:p>
            <a:pPr algn="l">
              <a:lnSpc>
                <a:spcPct val="105000"/>
              </a:lnSpc>
              <a:spcAft>
                <a:spcPts val="600"/>
              </a:spcAft>
            </a:pPr>
            <a:r>
              <a:rPr sz="3000" b="1">
                <a:solidFill>
                  <a:srgbClr val="F43F5E"/>
                </a:solidFill>
                <a:latin typeface="Calibri"/>
              </a:rPr>
              <a:t>2</a:t>
            </a:r>
          </a:p>
        </p:txBody>
      </p:sp>
      <p:sp>
        <p:nvSpPr>
          <p:cNvPr id="17" name="TextBox 16"/>
          <p:cNvSpPr txBox="1"/>
          <p:nvPr/>
        </p:nvSpPr>
        <p:spPr>
          <a:xfrm>
            <a:off x="4535423"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DecodingTrust</a:t>
            </a:r>
          </a:p>
        </p:txBody>
      </p:sp>
      <p:sp>
        <p:nvSpPr>
          <p:cNvPr id="18" name="Rectangle 17"/>
          <p:cNvSpPr/>
          <p:nvPr/>
        </p:nvSpPr>
        <p:spPr>
          <a:xfrm>
            <a:off x="4535423" y="2880360"/>
            <a:ext cx="237744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3" y="2880360"/>
            <a:ext cx="237744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Transformer / GPT</a:t>
            </a:r>
          </a:p>
        </p:txBody>
      </p:sp>
      <p:sp>
        <p:nvSpPr>
          <p:cNvPr id="20" name="TextBox 19"/>
          <p:cNvSpPr txBox="1"/>
          <p:nvPr/>
        </p:nvSpPr>
        <p:spPr>
          <a:xfrm>
            <a:off x="4535423"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Wang et al.
NeurIPS 2023 (Outstanding)</a:t>
            </a:r>
          </a:p>
        </p:txBody>
      </p:sp>
      <p:sp>
        <p:nvSpPr>
          <p:cNvPr id="21" name="Rectangle 20"/>
          <p:cNvSpPr/>
          <p:nvPr/>
        </p:nvSpPr>
        <p:spPr>
          <a:xfrm>
            <a:off x="4535423"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5423"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Benchmark 8 perspektif kepercayaan LLM: robustness, privasi, bias, fairness, etika.</a:t>
            </a:r>
          </a:p>
        </p:txBody>
      </p:sp>
      <p:sp>
        <p:nvSpPr>
          <p:cNvPr id="23" name="Rectangle 22"/>
          <p:cNvSpPr/>
          <p:nvPr/>
        </p:nvSpPr>
        <p:spPr>
          <a:xfrm>
            <a:off x="7973567" y="1463040"/>
            <a:ext cx="3593592" cy="4663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1645920"/>
            <a:ext cx="3108960" cy="640080"/>
          </a:xfrm>
          <a:prstGeom prst="rect">
            <a:avLst/>
          </a:prstGeom>
          <a:noFill/>
        </p:spPr>
        <p:txBody>
          <a:bodyPr wrap="square" anchor="t">
            <a:spAutoFit/>
          </a:bodyPr>
          <a:lstStyle/>
          <a:p>
            <a:pPr algn="l">
              <a:lnSpc>
                <a:spcPct val="105000"/>
              </a:lnSpc>
              <a:spcAft>
                <a:spcPts val="600"/>
              </a:spcAft>
            </a:pPr>
            <a:r>
              <a:rPr sz="3000" b="1">
                <a:solidFill>
                  <a:srgbClr val="60A5FA"/>
                </a:solidFill>
                <a:latin typeface="Calibri"/>
              </a:rPr>
              <a:t>3</a:t>
            </a:r>
          </a:p>
        </p:txBody>
      </p:sp>
      <p:sp>
        <p:nvSpPr>
          <p:cNvPr id="25" name="TextBox 24"/>
          <p:cNvSpPr txBox="1"/>
          <p:nvPr/>
        </p:nvSpPr>
        <p:spPr>
          <a:xfrm>
            <a:off x="8247888"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HELM</a:t>
            </a:r>
          </a:p>
        </p:txBody>
      </p:sp>
      <p:sp>
        <p:nvSpPr>
          <p:cNvPr id="26" name="Rectangle 25"/>
          <p:cNvSpPr/>
          <p:nvPr/>
        </p:nvSpPr>
        <p:spPr>
          <a:xfrm>
            <a:off x="8247888" y="2880360"/>
            <a:ext cx="237744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47888" y="2880360"/>
            <a:ext cx="237744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Transformer / LLM</a:t>
            </a:r>
          </a:p>
        </p:txBody>
      </p:sp>
      <p:sp>
        <p:nvSpPr>
          <p:cNvPr id="28" name="TextBox 27"/>
          <p:cNvSpPr txBox="1"/>
          <p:nvPr/>
        </p:nvSpPr>
        <p:spPr>
          <a:xfrm>
            <a:off x="8247888"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Liang, Bommasani, Lee et al.
TMLR 2023</a:t>
            </a:r>
          </a:p>
        </p:txBody>
      </p:sp>
      <p:sp>
        <p:nvSpPr>
          <p:cNvPr id="29" name="Rectangle 28"/>
          <p:cNvSpPr/>
          <p:nvPr/>
        </p:nvSpPr>
        <p:spPr>
          <a:xfrm>
            <a:off x="8247888"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Evaluasi holistik: 7 metrik diukur serempak pada 16 skenario inti.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SSL</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Fairness Tanpa Label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Provable Optimization for Adversarial Fair Self-supervised Contrastive Learning</a:t>
            </a:r>
          </a:p>
        </p:txBody>
      </p:sp>
      <p:sp>
        <p:nvSpPr>
          <p:cNvPr id="8" name="TextBox 7"/>
          <p:cNvSpPr txBox="1"/>
          <p:nvPr/>
        </p:nvSpPr>
        <p:spPr>
          <a:xfrm>
            <a:off x="548640" y="1783080"/>
            <a:ext cx="11064240" cy="411480"/>
          </a:xfrm>
          <a:prstGeom prst="rect">
            <a:avLst/>
          </a:prstGeom>
          <a:noFill/>
        </p:spPr>
        <p:txBody>
          <a:bodyPr wrap="square" anchor="t">
            <a:spAutoFit/>
          </a:bodyPr>
          <a:lstStyle/>
          <a:p>
            <a:pPr algn="l">
              <a:lnSpc>
                <a:spcPct val="105000"/>
              </a:lnSpc>
              <a:spcAft>
                <a:spcPts val="600"/>
              </a:spcAft>
            </a:pPr>
            <a:r>
              <a:rPr sz="1200" b="0">
                <a:solidFill>
                  <a:srgbClr val="64748B"/>
                </a:solidFill>
                <a:latin typeface="Calibri"/>
              </a:rPr>
              <a:t>Qi, Hu, Lin &amp; Yang (2024) · arXiv:2406.05686</a:t>
            </a:r>
          </a:p>
        </p:txBody>
      </p:sp>
      <p:sp>
        <p:nvSpPr>
          <p:cNvPr id="9" name="Rectangle 8"/>
          <p:cNvSpPr/>
          <p:nvPr/>
        </p:nvSpPr>
        <p:spPr>
          <a:xfrm>
            <a:off x="548640" y="23774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146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Masalah</a:t>
            </a:r>
          </a:p>
        </p:txBody>
      </p:sp>
      <p:sp>
        <p:nvSpPr>
          <p:cNvPr id="11" name="TextBox 10"/>
          <p:cNvSpPr txBox="1"/>
          <p:nvPr/>
        </p:nvSpPr>
        <p:spPr>
          <a:xfrm>
            <a:off x="777240" y="29718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Contrastive learning (SimCLR dll.) belajar dari data tanpa label. Representasinya bisa diam-diam menyimpan bias (gender, ras). Fairness sulit diukur karena tidak ada label.</a:t>
            </a:r>
          </a:p>
        </p:txBody>
      </p:sp>
      <p:sp>
        <p:nvSpPr>
          <p:cNvPr id="12" name="Rectangle 11"/>
          <p:cNvSpPr/>
          <p:nvPr/>
        </p:nvSpPr>
        <p:spPr>
          <a:xfrm>
            <a:off x="548640" y="42062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3434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Ide</a:t>
            </a:r>
          </a:p>
        </p:txBody>
      </p:sp>
      <p:sp>
        <p:nvSpPr>
          <p:cNvPr id="14" name="TextBox 13"/>
          <p:cNvSpPr txBox="1"/>
          <p:nvPr/>
        </p:nvSpPr>
        <p:spPr>
          <a:xfrm>
            <a:off x="777240" y="48006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Adversarial fair representation learning: minimkan contrastive loss pada data tak berlabel, sambil maksimalkan loss penebak atribut sensitif pada sedikit data berlabel (minimax game).</a:t>
            </a:r>
          </a:p>
        </p:txBody>
      </p:sp>
      <p:sp>
        <p:nvSpPr>
          <p:cNvPr id="15" name="Rectangle 14"/>
          <p:cNvSpPr/>
          <p:nvPr/>
        </p:nvSpPr>
        <p:spPr>
          <a:xfrm>
            <a:off x="6245352" y="2377440"/>
            <a:ext cx="5394960" cy="16916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5146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Metrik (dimensi Fair)</a:t>
            </a:r>
          </a:p>
        </p:txBody>
      </p:sp>
      <p:sp>
        <p:nvSpPr>
          <p:cNvPr id="17" name="TextBox 16"/>
          <p:cNvSpPr txBox="1"/>
          <p:nvPr/>
        </p:nvSpPr>
        <p:spPr>
          <a:xfrm>
            <a:off x="6473952" y="29718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Dievaluasi dengan 8 notasi fairness pada klasifikasi downstream, mis. </a:t>
            </a:r>
            <a:r>
              <a:rPr sz="1250" b="1">
                <a:solidFill>
                  <a:srgbClr val="F1F5F9"/>
                </a:solidFill>
                <a:latin typeface="Calibri"/>
              </a:rPr>
              <a:t>demographic parity</a:t>
            </a:r>
            <a:r>
              <a:rPr sz="1250" b="0">
                <a:solidFill>
                  <a:srgbClr val="94A3B8"/>
                </a:solidFill>
                <a:latin typeface="Calibri"/>
              </a:rPr>
              <a:t> &amp; </a:t>
            </a:r>
            <a:r>
              <a:rPr sz="1250" b="1">
                <a:solidFill>
                  <a:srgbClr val="F1F5F9"/>
                </a:solidFill>
                <a:latin typeface="Calibri"/>
              </a:rPr>
              <a:t>equalized odds</a:t>
            </a:r>
            <a:r>
              <a:rPr sz="1250" b="0">
                <a:solidFill>
                  <a:srgbClr val="94A3B8"/>
                </a:solidFill>
                <a:latin typeface="Calibri"/>
              </a:rPr>
              <a:t>.</a:t>
            </a:r>
          </a:p>
        </p:txBody>
      </p:sp>
      <p:sp>
        <p:nvSpPr>
          <p:cNvPr id="18" name="Rectangle 17"/>
          <p:cNvSpPr/>
          <p:nvPr/>
        </p:nvSpPr>
        <p:spPr>
          <a:xfrm>
            <a:off x="6245352" y="4206240"/>
            <a:ext cx="539496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3434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Kontribusi</a:t>
            </a:r>
          </a:p>
        </p:txBody>
      </p:sp>
      <p:sp>
        <p:nvSpPr>
          <p:cNvPr id="20" name="TextBox 19"/>
          <p:cNvSpPr txBox="1"/>
          <p:nvPr/>
        </p:nvSpPr>
        <p:spPr>
          <a:xfrm>
            <a:off x="6473952" y="48006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Algoritma stokastik dengan jaminan konvergensi </a:t>
            </a:r>
            <a:r>
              <a:rPr sz="1250" b="1">
                <a:solidFill>
                  <a:srgbClr val="F1F5F9"/>
                </a:solidFill>
                <a:latin typeface="Calibri"/>
              </a:rPr>
              <a:t>tanpa perlu batch besar</a:t>
            </a:r>
            <a:r>
              <a:rPr sz="1250" b="0">
                <a:solidFill>
                  <a:srgbClr val="94A3B8"/>
                </a:solidFill>
                <a:latin typeface="Calibri"/>
              </a:rPr>
              <a:t>, menyiasati global contrastive loss yang mahal.</a:t>
            </a:r>
          </a:p>
        </p:txBody>
      </p:sp>
      <p:sp>
        <p:nvSpPr>
          <p:cNvPr id="21" name="Rectangle 20"/>
          <p:cNvSpPr/>
          <p:nvPr/>
        </p:nvSpPr>
        <p:spPr>
          <a:xfrm>
            <a:off x="548640" y="5989320"/>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989320"/>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seperti anak yang belajar dari internet tanpa pengawasan, AI bisa ikut menyerap prasangka dari data tanpa disuruh.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Cara Kerja SoFCLR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41148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SoFCLR = Stochastic Optimization for Fair Contrastive Learning</a:t>
            </a:r>
          </a:p>
        </p:txBody>
      </p:sp>
      <p:sp>
        <p:nvSpPr>
          <p:cNvPr id="8" name="Rectangle 7"/>
          <p:cNvSpPr/>
          <p:nvPr/>
        </p:nvSpPr>
        <p:spPr>
          <a:xfrm>
            <a:off x="1280160" y="1828800"/>
            <a:ext cx="9601200" cy="1097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1828800"/>
            <a:ext cx="9601200" cy="1097280"/>
          </a:xfrm>
          <a:prstGeom prst="rect">
            <a:avLst/>
          </a:prstGeom>
          <a:noFill/>
        </p:spPr>
        <p:txBody>
          <a:bodyPr wrap="square" anchor="ctr">
            <a:spAutoFit/>
          </a:bodyPr>
          <a:lstStyle/>
          <a:p>
            <a:pPr algn="ctr">
              <a:lnSpc>
                <a:spcPct val="105000"/>
              </a:lnSpc>
              <a:spcAft>
                <a:spcPts val="600"/>
              </a:spcAft>
            </a:pPr>
            <a:r>
              <a:rPr sz="2300" b="1">
                <a:solidFill>
                  <a:srgbClr val="34D399"/>
                </a:solidFill>
                <a:latin typeface="Calibri"/>
              </a:rPr>
              <a:t>F(w, w′)  =  F_GCL(w)  +  α · F_fair(w, w′)</a:t>
            </a:r>
          </a:p>
        </p:txBody>
      </p:sp>
      <p:sp>
        <p:nvSpPr>
          <p:cNvPr id="10" name="TextBox 9"/>
          <p:cNvSpPr txBox="1"/>
          <p:nvPr/>
        </p:nvSpPr>
        <p:spPr>
          <a:xfrm>
            <a:off x="548640" y="3017520"/>
            <a:ext cx="11064240" cy="365760"/>
          </a:xfrm>
          <a:prstGeom prst="rect">
            <a:avLst/>
          </a:prstGeom>
          <a:noFill/>
        </p:spPr>
        <p:txBody>
          <a:bodyPr wrap="square" anchor="t">
            <a:spAutoFit/>
          </a:bodyPr>
          <a:lstStyle/>
          <a:p>
            <a:pPr algn="ctr">
              <a:lnSpc>
                <a:spcPct val="105000"/>
              </a:lnSpc>
              <a:spcAft>
                <a:spcPts val="600"/>
              </a:spcAft>
            </a:pPr>
            <a:r>
              <a:rPr sz="1200" b="0">
                <a:solidFill>
                  <a:srgbClr val="94A3B8"/>
                </a:solidFill>
                <a:latin typeface="Calibri"/>
              </a:rPr>
              <a:t>minimalkan terhadap encoder w  ·  maksimalkan terhadap discriminator w′  ·  α = bobot trade-off (fairness ↔ akurasi)</a:t>
            </a:r>
          </a:p>
        </p:txBody>
      </p:sp>
      <p:sp>
        <p:nvSpPr>
          <p:cNvPr id="11" name="Rectangle 10"/>
          <p:cNvSpPr/>
          <p:nvPr/>
        </p:nvSpPr>
        <p:spPr>
          <a:xfrm>
            <a:off x="548640" y="356616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0332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Suku F_GCL  (representasi)</a:t>
            </a:r>
          </a:p>
        </p:txBody>
      </p:sp>
      <p:sp>
        <p:nvSpPr>
          <p:cNvPr id="13" name="TextBox 12"/>
          <p:cNvSpPr txBox="1"/>
          <p:nvPr/>
        </p:nvSpPr>
        <p:spPr>
          <a:xfrm>
            <a:off x="777240"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Global contrastive loss: tarik dua augmentasi gambar yang sama agar berdekatan, dorong menjauh dari semua sampel lain. Menjaga representasi tetap kaya dan informatif.</a:t>
            </a:r>
          </a:p>
        </p:txBody>
      </p:sp>
      <p:sp>
        <p:nvSpPr>
          <p:cNvPr id="14" name="Rectangle 13"/>
          <p:cNvSpPr/>
          <p:nvPr/>
        </p:nvSpPr>
        <p:spPr>
          <a:xfrm>
            <a:off x="6153912" y="356616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370332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Suku F_fair  (fairness)</a:t>
            </a:r>
          </a:p>
        </p:txBody>
      </p:sp>
      <p:sp>
        <p:nvSpPr>
          <p:cNvPr id="16" name="TextBox 15"/>
          <p:cNvSpPr txBox="1"/>
          <p:nvPr/>
        </p:nvSpPr>
        <p:spPr>
          <a:xfrm>
            <a:off x="6382512"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Discriminator berusaha menebak atribut sensitif (mis. gender) dari representasi. Encoder dilatih agar discriminator </a:t>
            </a:r>
            <a:r>
              <a:rPr sz="1300" b="1">
                <a:solidFill>
                  <a:srgbClr val="F1F5F9"/>
                </a:solidFill>
                <a:latin typeface="Calibri"/>
              </a:rPr>
              <a:t>gagal</a:t>
            </a:r>
            <a:r>
              <a:rPr sz="1300" b="0">
                <a:solidFill>
                  <a:srgbClr val="94A3B8"/>
                </a:solidFill>
                <a:latin typeface="Calibri"/>
              </a:rPr>
              <a:t>, sehingga representasi tidak membawa informasi sensitif.</a:t>
            </a:r>
          </a:p>
        </p:txBody>
      </p:sp>
      <p:sp>
        <p:nvSpPr>
          <p:cNvPr id="17" name="Rectangle 16"/>
          <p:cNvSpPr/>
          <p:nvPr/>
        </p:nvSpPr>
        <p:spPr>
          <a:xfrm>
            <a:off x="548640" y="6126480"/>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126480"/>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permainan kucing-tikus. Satu pemain menyembunyikan info gender, satu mencoba menebaknya. Kalau penebak gagal, berarti AI makin adil.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per Iterasi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6400800" cy="4617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27632"/>
            <a:ext cx="585216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Langkah tiap iterasi</a:t>
            </a:r>
          </a:p>
        </p:txBody>
      </p:sp>
      <p:sp>
        <p:nvSpPr>
          <p:cNvPr id="9" name="TextBox 8"/>
          <p:cNvSpPr txBox="1"/>
          <p:nvPr/>
        </p:nvSpPr>
        <p:spPr>
          <a:xfrm>
            <a:off x="868680" y="2103120"/>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1</a:t>
            </a:r>
          </a:p>
        </p:txBody>
      </p:sp>
      <p:sp>
        <p:nvSpPr>
          <p:cNvPr id="10" name="TextBox 9"/>
          <p:cNvSpPr txBox="1"/>
          <p:nvPr/>
        </p:nvSpPr>
        <p:spPr>
          <a:xfrm>
            <a:off x="1371600" y="2103120"/>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Ambil 1 batch data tak berlabel + 1 batch kecil yang berlabel atribut sensitif.</a:t>
            </a:r>
          </a:p>
        </p:txBody>
      </p:sp>
      <p:sp>
        <p:nvSpPr>
          <p:cNvPr id="11" name="TextBox 10"/>
          <p:cNvSpPr txBox="1"/>
          <p:nvPr/>
        </p:nvSpPr>
        <p:spPr>
          <a:xfrm>
            <a:off x="868680" y="2871215"/>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2</a:t>
            </a:r>
          </a:p>
        </p:txBody>
      </p:sp>
      <p:sp>
        <p:nvSpPr>
          <p:cNvPr id="12" name="TextBox 11"/>
          <p:cNvSpPr txBox="1"/>
          <p:nvPr/>
        </p:nvSpPr>
        <p:spPr>
          <a:xfrm>
            <a:off x="1371600" y="2871215"/>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Buat 2 augmentasi tiap sampel; perbarui moving-average u (estimator suku contrastive).</a:t>
            </a:r>
          </a:p>
        </p:txBody>
      </p:sp>
      <p:sp>
        <p:nvSpPr>
          <p:cNvPr id="13" name="TextBox 12"/>
          <p:cNvSpPr txBox="1"/>
          <p:nvPr/>
        </p:nvSpPr>
        <p:spPr>
          <a:xfrm>
            <a:off x="868680" y="3639311"/>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3</a:t>
            </a:r>
          </a:p>
        </p:txBody>
      </p:sp>
      <p:sp>
        <p:nvSpPr>
          <p:cNvPr id="14" name="TextBox 13"/>
          <p:cNvSpPr txBox="1"/>
          <p:nvPr/>
        </p:nvSpPr>
        <p:spPr>
          <a:xfrm>
            <a:off x="1371600" y="3639311"/>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Hitung gradien dari nilai u, lalu haluskan dengan momentum.</a:t>
            </a:r>
          </a:p>
        </p:txBody>
      </p:sp>
      <p:sp>
        <p:nvSpPr>
          <p:cNvPr id="15" name="TextBox 14"/>
          <p:cNvSpPr txBox="1"/>
          <p:nvPr/>
        </p:nvSpPr>
        <p:spPr>
          <a:xfrm>
            <a:off x="868680" y="4407407"/>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4</a:t>
            </a:r>
          </a:p>
        </p:txBody>
      </p:sp>
      <p:sp>
        <p:nvSpPr>
          <p:cNvPr id="16" name="TextBox 15"/>
          <p:cNvSpPr txBox="1"/>
          <p:nvPr/>
        </p:nvSpPr>
        <p:spPr>
          <a:xfrm>
            <a:off x="1371600" y="4407407"/>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Encoder turun gradien:   w ← w − η · g</a:t>
            </a:r>
          </a:p>
        </p:txBody>
      </p:sp>
      <p:sp>
        <p:nvSpPr>
          <p:cNvPr id="17" name="TextBox 16"/>
          <p:cNvSpPr txBox="1"/>
          <p:nvPr/>
        </p:nvSpPr>
        <p:spPr>
          <a:xfrm>
            <a:off x="868680" y="5175503"/>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5</a:t>
            </a:r>
          </a:p>
        </p:txBody>
      </p:sp>
      <p:sp>
        <p:nvSpPr>
          <p:cNvPr id="18" name="TextBox 17"/>
          <p:cNvSpPr txBox="1"/>
          <p:nvPr/>
        </p:nvSpPr>
        <p:spPr>
          <a:xfrm>
            <a:off x="1371600" y="5175503"/>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Discriminator naik gradien:   w′ ← w′ + η′ · v</a:t>
            </a:r>
          </a:p>
        </p:txBody>
      </p:sp>
      <p:sp>
        <p:nvSpPr>
          <p:cNvPr id="19" name="Rectangle 18"/>
          <p:cNvSpPr/>
          <p:nvPr/>
        </p:nvSpPr>
        <p:spPr>
          <a:xfrm>
            <a:off x="7132320" y="1463040"/>
            <a:ext cx="4507992" cy="22402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0920" y="1627632"/>
            <a:ext cx="4023360" cy="365760"/>
          </a:xfrm>
          <a:prstGeom prst="rect">
            <a:avLst/>
          </a:prstGeom>
          <a:noFill/>
        </p:spPr>
        <p:txBody>
          <a:bodyPr wrap="square" anchor="t">
            <a:spAutoFit/>
          </a:bodyPr>
          <a:lstStyle/>
          <a:p>
            <a:pPr algn="l">
              <a:lnSpc>
                <a:spcPct val="105000"/>
              </a:lnSpc>
              <a:spcAft>
                <a:spcPts val="600"/>
              </a:spcAft>
            </a:pPr>
            <a:r>
              <a:rPr sz="1400" b="1">
                <a:solidFill>
                  <a:srgbClr val="F1F5F9"/>
                </a:solidFill>
                <a:latin typeface="Calibri"/>
              </a:rPr>
              <a:t>Kenapa pakai moving-average u?</a:t>
            </a:r>
          </a:p>
        </p:txBody>
      </p:sp>
      <p:sp>
        <p:nvSpPr>
          <p:cNvPr id="21" name="TextBox 20"/>
          <p:cNvSpPr txBox="1"/>
          <p:nvPr/>
        </p:nvSpPr>
        <p:spPr>
          <a:xfrm>
            <a:off x="7360920" y="210312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Minibatch untuk contrastive bersifat bias karena tiap anchor seharusnya dibandingkan dengan seluruh dataset. Vektor u melacak nilai itu lintas iterasi sehingga error mengecil, tanpa perlu batch raksasa seperti SimCLR.</a:t>
            </a:r>
          </a:p>
        </p:txBody>
      </p:sp>
      <p:sp>
        <p:nvSpPr>
          <p:cNvPr id="22" name="Rectangle 21"/>
          <p:cNvSpPr/>
          <p:nvPr/>
        </p:nvSpPr>
        <p:spPr>
          <a:xfrm>
            <a:off x="7132320" y="3840480"/>
            <a:ext cx="4507992" cy="2240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60920" y="4005072"/>
            <a:ext cx="40233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Jaminan konvergensi</a:t>
            </a:r>
          </a:p>
        </p:txBody>
      </p:sp>
      <p:sp>
        <p:nvSpPr>
          <p:cNvPr id="24" name="TextBox 23"/>
          <p:cNvSpPr txBox="1"/>
          <p:nvPr/>
        </p:nvSpPr>
        <p:spPr>
          <a:xfrm>
            <a:off x="7360920" y="448056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Terbukti mencapai titik ε-stationary dalam O(ε⁻⁴) iterasi: setara SGD untuk optimisasi non-convex, dan tanpa syarat batch besar.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INTI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Tantangan Khas Fairness di SSL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5448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1</a:t>
            </a:r>
          </a:p>
        </p:txBody>
      </p:sp>
      <p:sp>
        <p:nvSpPr>
          <p:cNvPr id="9" name="TextBox 8"/>
          <p:cNvSpPr txBox="1"/>
          <p:nvPr/>
        </p:nvSpPr>
        <p:spPr>
          <a:xfrm>
            <a:off x="1737360" y="173736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Tanpa label downstream</a:t>
            </a:r>
          </a:p>
          <a:p>
            <a:pPr algn="l">
              <a:lnSpc>
                <a:spcPct val="105000"/>
              </a:lnSpc>
              <a:spcAft>
                <a:spcPts val="400"/>
              </a:spcAft>
            </a:pPr>
            <a:r>
              <a:rPr sz="1300" b="0">
                <a:solidFill>
                  <a:srgbClr val="94A3B8"/>
                </a:solidFill>
                <a:latin typeface="Calibri"/>
              </a:rPr>
              <a:t>Fairness biasanya butuh label kelas + atribut sensitif. SSL pra-latih tanpa keduanya, jadi metrik fairness harus dirancang ulang untuk tahap representasi.</a:t>
            </a:r>
          </a:p>
        </p:txBody>
      </p:sp>
      <p:sp>
        <p:nvSpPr>
          <p:cNvPr id="10" name="Rectangle 9"/>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063239"/>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2</a:t>
            </a:r>
          </a:p>
        </p:txBody>
      </p:sp>
      <p:sp>
        <p:nvSpPr>
          <p:cNvPr id="12" name="TextBox 11"/>
          <p:cNvSpPr txBox="1"/>
          <p:nvPr/>
        </p:nvSpPr>
        <p:spPr>
          <a:xfrm>
            <a:off x="1737360" y="324612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Optimisasi sulit</a:t>
            </a:r>
          </a:p>
          <a:p>
            <a:pPr algn="l">
              <a:lnSpc>
                <a:spcPct val="105000"/>
              </a:lnSpc>
              <a:spcAft>
                <a:spcPts val="400"/>
              </a:spcAft>
            </a:pPr>
            <a:r>
              <a:rPr sz="1300" b="0">
                <a:solidFill>
                  <a:srgbClr val="94A3B8"/>
                </a:solidFill>
                <a:latin typeface="Calibri"/>
              </a:rPr>
              <a:t>Minimax-nya non-convex non-concave, diperberat global contrastive loss yang membandingkan tiap sampel dengan semua sampel lain. SoFCLR memberi solusi terbukti (provable).</a:t>
            </a:r>
          </a:p>
        </p:txBody>
      </p:sp>
      <p:sp>
        <p:nvSpPr>
          <p:cNvPr id="13" name="Rectangle 12"/>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57200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3</a:t>
            </a:r>
          </a:p>
        </p:txBody>
      </p:sp>
      <p:sp>
        <p:nvSpPr>
          <p:cNvPr id="15" name="TextBox 14"/>
          <p:cNvSpPr txBox="1"/>
          <p:nvPr/>
        </p:nvSpPr>
        <p:spPr>
          <a:xfrm>
            <a:off x="1737360" y="475488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Bukan otomatis adil</a:t>
            </a:r>
          </a:p>
          <a:p>
            <a:pPr algn="l">
              <a:lnSpc>
                <a:spcPct val="105000"/>
              </a:lnSpc>
              <a:spcAft>
                <a:spcPts val="400"/>
              </a:spcAft>
            </a:pPr>
            <a:r>
              <a:rPr sz="1300" b="0">
                <a:solidFill>
                  <a:srgbClr val="94A3B8"/>
                </a:solidFill>
                <a:latin typeface="Calibri"/>
              </a:rPr>
              <a:t>Penulis menegaskan SSL tidak inheren adil; pra-pelatihan tetap dapat menyimpan bias bila tidak diberi sinyal fairness eksplisit.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Minimax game: min encoder, max discriminator atas F_GCL + α·F_fair.</a:t>
            </a:r>
          </a:p>
          <a:p>
            <a:pPr algn="l">
              <a:lnSpc>
                <a:spcPct val="115000"/>
              </a:lnSpc>
              <a:spcAft>
                <a:spcPts val="400"/>
              </a:spcAft>
            </a:pPr>
            <a:r>
              <a:rPr sz="1150" b="0">
                <a:solidFill>
                  <a:srgbClr val="94A3B8"/>
                </a:solidFill>
                <a:latin typeface="Calibri"/>
              </a:rPr>
              <a:t>•  Global contrastive loss diestimasi lewat moving-average u + momentum.</a:t>
            </a:r>
          </a:p>
        </p:txBody>
      </p:sp>
      <p:sp>
        <p:nvSpPr>
          <p:cNvPr id="10" name="Rectangle 9"/>
          <p:cNvSpPr/>
          <p:nvPr/>
        </p:nvSpPr>
        <p:spPr>
          <a:xfrm>
            <a:off x="6153912"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Algoritma fair-SSL pertama dengan konvergensi terbukti O(ε⁻⁴), tanpa batch besar.</a:t>
            </a:r>
          </a:p>
          <a:p>
            <a:pPr algn="l">
              <a:lnSpc>
                <a:spcPct val="115000"/>
              </a:lnSpc>
              <a:spcAft>
                <a:spcPts val="400"/>
              </a:spcAft>
            </a:pPr>
            <a:r>
              <a:rPr sz="1150" b="0">
                <a:solidFill>
                  <a:srgbClr val="94A3B8"/>
                </a:solidFill>
                <a:latin typeface="Calibri"/>
              </a:rPr>
              <a:t>•  Cukup label atribut sensitif pada sebagian kecil data.</a:t>
            </a:r>
          </a:p>
          <a:p>
            <a:pPr algn="l">
              <a:lnSpc>
                <a:spcPct val="115000"/>
              </a:lnSpc>
              <a:spcAft>
                <a:spcPts val="400"/>
              </a:spcAft>
            </a:pPr>
            <a:r>
              <a:rPr sz="1150" b="0">
                <a:solidFill>
                  <a:srgbClr val="94A3B8"/>
                </a:solidFill>
                <a:latin typeface="Calibri"/>
              </a:rPr>
              <a:t>•  Tak mengubah contrastive loss, kompatibel dengan SimCLR/CLIP.</a:t>
            </a:r>
          </a:p>
        </p:txBody>
      </p:sp>
      <p:sp>
        <p:nvSpPr>
          <p:cNvPr id="13" name="Rectangle 12"/>
          <p:cNvSpPr/>
          <p:nvPr/>
        </p:nvSpPr>
        <p:spPr>
          <a:xfrm>
            <a:off x="548640"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Dataset CelebA &amp; UTKFace (citra wajah), diukur 8 fairness notions.</a:t>
            </a:r>
          </a:p>
          <a:p>
            <a:pPr algn="l">
              <a:lnSpc>
                <a:spcPct val="115000"/>
              </a:lnSpc>
              <a:spcAft>
                <a:spcPts val="400"/>
              </a:spcAft>
            </a:pPr>
            <a:r>
              <a:rPr sz="1150" b="0">
                <a:solidFill>
                  <a:srgbClr val="94A3B8"/>
                </a:solidFill>
                <a:latin typeface="Calibri"/>
              </a:rPr>
              <a:t>•  CelebA (Attractive×Male): Δ_ED 14,93 vs SimCLR 26,58 (lebih adil).</a:t>
            </a:r>
          </a:p>
          <a:p>
            <a:pPr algn="l">
              <a:lnSpc>
                <a:spcPct val="115000"/>
              </a:lnSpc>
              <a:spcAft>
                <a:spcPts val="400"/>
              </a:spcAft>
            </a:pPr>
            <a:r>
              <a:rPr sz="1150" b="0">
                <a:solidFill>
                  <a:srgbClr val="94A3B8"/>
                </a:solidFill>
                <a:latin typeface="Calibri"/>
              </a:rPr>
              <a:t>•  UTKFace: Δ_ED 15,42 (~20% lebih baik dari SimCLR), akurasi tetap ~85%.</a:t>
            </a:r>
          </a:p>
        </p:txBody>
      </p:sp>
      <p:sp>
        <p:nvSpPr>
          <p:cNvPr id="16" name="Rectangle 15"/>
          <p:cNvSpPr/>
          <p:nvPr/>
        </p:nvSpPr>
        <p:spPr>
          <a:xfrm>
            <a:off x="6153912"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perluasan ke data multi-modality.</a:t>
            </a:r>
          </a:p>
          <a:p>
            <a:pPr algn="l">
              <a:lnSpc>
                <a:spcPct val="115000"/>
              </a:lnSpc>
              <a:spcAft>
                <a:spcPts val="400"/>
              </a:spcAft>
            </a:pPr>
            <a:r>
              <a:rPr sz="1150" b="0">
                <a:solidFill>
                  <a:srgbClr val="94A3B8"/>
                </a:solidFill>
                <a:latin typeface="Calibri"/>
              </a:rPr>
              <a:t>•  (Inferensi) atribut sensitif lain &amp; penyetelan trade-off 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8 Perspektif</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A Comprehensive Assessment of Trustworthiness in GPT Models  ·  Wang et al., NeurIPS 2023</a:t>
            </a:r>
          </a:p>
        </p:txBody>
      </p:sp>
      <p:sp>
        <p:nvSpPr>
          <p:cNvPr id="8" name="Rectangle 7"/>
          <p:cNvSpPr/>
          <p:nvPr/>
        </p:nvSpPr>
        <p:spPr>
          <a:xfrm>
            <a:off x="548640" y="1920240"/>
            <a:ext cx="5029200" cy="228600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457200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SECURE</a:t>
            </a:r>
          </a:p>
        </p:txBody>
      </p:sp>
      <p:sp>
        <p:nvSpPr>
          <p:cNvPr id="10" name="Rectangle 9"/>
          <p:cNvSpPr/>
          <p:nvPr/>
        </p:nvSpPr>
        <p:spPr>
          <a:xfrm>
            <a:off x="777240" y="256032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6032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Adversarial robustness</a:t>
            </a:r>
          </a:p>
        </p:txBody>
      </p:sp>
      <p:sp>
        <p:nvSpPr>
          <p:cNvPr id="12" name="Rectangle 11"/>
          <p:cNvSpPr/>
          <p:nvPr/>
        </p:nvSpPr>
        <p:spPr>
          <a:xfrm>
            <a:off x="777240" y="297180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OOD robustness</a:t>
            </a:r>
          </a:p>
        </p:txBody>
      </p:sp>
      <p:sp>
        <p:nvSpPr>
          <p:cNvPr id="14" name="Rectangle 13"/>
          <p:cNvSpPr/>
          <p:nvPr/>
        </p:nvSpPr>
        <p:spPr>
          <a:xfrm>
            <a:off x="777240" y="338328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38328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 demonstrations</a:t>
            </a:r>
          </a:p>
        </p:txBody>
      </p:sp>
      <p:sp>
        <p:nvSpPr>
          <p:cNvPr id="16" name="Rectangle 15"/>
          <p:cNvSpPr/>
          <p:nvPr/>
        </p:nvSpPr>
        <p:spPr>
          <a:xfrm>
            <a:off x="777240" y="379476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9476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Privacy</a:t>
            </a:r>
          </a:p>
        </p:txBody>
      </p:sp>
      <p:sp>
        <p:nvSpPr>
          <p:cNvPr id="18" name="Rectangle 17"/>
          <p:cNvSpPr/>
          <p:nvPr/>
        </p:nvSpPr>
        <p:spPr>
          <a:xfrm>
            <a:off x="5696712" y="1920240"/>
            <a:ext cx="3017520" cy="22860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5312" y="2057400"/>
            <a:ext cx="256032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FAIR</a:t>
            </a:r>
          </a:p>
        </p:txBody>
      </p:sp>
      <p:sp>
        <p:nvSpPr>
          <p:cNvPr id="20" name="Rectangle 19"/>
          <p:cNvSpPr/>
          <p:nvPr/>
        </p:nvSpPr>
        <p:spPr>
          <a:xfrm>
            <a:off x="5925312" y="256032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3912" y="256032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Stereotype bias</a:t>
            </a:r>
          </a:p>
        </p:txBody>
      </p:sp>
      <p:sp>
        <p:nvSpPr>
          <p:cNvPr id="22" name="Rectangle 21"/>
          <p:cNvSpPr/>
          <p:nvPr/>
        </p:nvSpPr>
        <p:spPr>
          <a:xfrm>
            <a:off x="5925312" y="297180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97180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Fairness</a:t>
            </a:r>
          </a:p>
        </p:txBody>
      </p:sp>
      <p:sp>
        <p:nvSpPr>
          <p:cNvPr id="24" name="Rectangle 23"/>
          <p:cNvSpPr/>
          <p:nvPr/>
        </p:nvSpPr>
        <p:spPr>
          <a:xfrm>
            <a:off x="8833104" y="1920240"/>
            <a:ext cx="3044952" cy="228600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61704" y="2057400"/>
            <a:ext cx="2587752"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ACCOUNTABLE</a:t>
            </a:r>
          </a:p>
        </p:txBody>
      </p:sp>
      <p:sp>
        <p:nvSpPr>
          <p:cNvPr id="26" name="Rectangle 25"/>
          <p:cNvSpPr/>
          <p:nvPr/>
        </p:nvSpPr>
        <p:spPr>
          <a:xfrm>
            <a:off x="9061704" y="256032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0304" y="256032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Machine ethics</a:t>
            </a:r>
          </a:p>
        </p:txBody>
      </p:sp>
      <p:sp>
        <p:nvSpPr>
          <p:cNvPr id="28" name="Rectangle 27"/>
          <p:cNvSpPr/>
          <p:nvPr/>
        </p:nvSpPr>
        <p:spPr>
          <a:xfrm>
            <a:off x="9061704" y="297180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0304" y="297180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Toxicity</a:t>
            </a:r>
          </a:p>
        </p:txBody>
      </p:sp>
      <p:sp>
        <p:nvSpPr>
          <p:cNvPr id="30" name="Rectangle 29"/>
          <p:cNvSpPr/>
          <p:nvPr/>
        </p:nvSpPr>
        <p:spPr>
          <a:xfrm>
            <a:off x="548640" y="4434840"/>
            <a:ext cx="11091672" cy="16916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43F5E"/>
                </a:solidFill>
                <a:latin typeface="Calibri"/>
              </a:rPr>
              <a:t>Metrik konkret.  </a:t>
            </a:r>
            <a:r>
              <a:rPr sz="1350" b="0">
                <a:solidFill>
                  <a:srgbClr val="F1F5F9"/>
                </a:solidFill>
                <a:latin typeface="Calibri"/>
              </a:rPr>
              <a:t>Robustness diuji dengan benchmark AdvGLUE / AdvGLUE++ (serangan TextFooler, SemAttack, BERT-ATTACK). Attack Success Rate mencapai 89,2% pada GPT-4 (kasus transfer terbaik). </a:t>
            </a:r>
          </a:p>
          <a:p>
            <a:pPr algn="l">
              <a:lnSpc>
                <a:spcPct val="120000"/>
              </a:lnSpc>
              <a:spcAft>
                <a:spcPts val="600"/>
              </a:spcAft>
            </a:pPr>
            <a:r>
              <a:rPr sz="1350" b="0">
                <a:solidFill>
                  <a:srgbClr val="94A3B8"/>
                </a:solidFill>
                <a:latin typeface="Calibri"/>
              </a:rPr>
              <a:t>Fairness diukur lewat base-rate parity antar kelompok demografi, dan menemukan trade-off akurasi-fairness: GPT-4 lebih akurat pada data seimbang, tapi lebih tidak adil pada data timpang.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Uji GPT-3.5 &amp; GPT-4 pada 8 perspektif trustworthiness.</a:t>
            </a:r>
          </a:p>
          <a:p>
            <a:pPr algn="l">
              <a:lnSpc>
                <a:spcPct val="115000"/>
              </a:lnSpc>
              <a:spcAft>
                <a:spcPts val="400"/>
              </a:spcAft>
            </a:pPr>
            <a:r>
              <a:rPr sz="1150" b="0">
                <a:solidFill>
                  <a:srgbClr val="94A3B8"/>
                </a:solidFill>
                <a:latin typeface="Calibri"/>
              </a:rPr>
              <a:t>•  Benchmark standar (AdvGLUE, RealToxicityPrompts, ETHICS) + baru (AdvGLUE++).</a:t>
            </a:r>
          </a:p>
          <a:p>
            <a:pPr algn="l">
              <a:lnSpc>
                <a:spcPct val="115000"/>
              </a:lnSpc>
              <a:spcAft>
                <a:spcPts val="400"/>
              </a:spcAft>
            </a:pPr>
            <a:r>
              <a:rPr sz="1150" b="0">
                <a:solidFill>
                  <a:srgbClr val="94A3B8"/>
                </a:solidFill>
                <a:latin typeface="Calibri"/>
              </a:rPr>
              <a:t>•  Skenario zero/few-shot + adversarial prompt &amp; backdoored demo.</a:t>
            </a:r>
          </a:p>
        </p:txBody>
      </p:sp>
      <p:sp>
        <p:nvSpPr>
          <p:cNvPr id="10" name="Rectangle 9"/>
          <p:cNvSpPr/>
          <p:nvPr/>
        </p:nvSpPr>
        <p:spPr>
          <a:xfrm>
            <a:off x="6153912"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Framework 8 perspektif yang menyesuaikan kemampuan baru GPT (instruction following).</a:t>
            </a:r>
          </a:p>
          <a:p>
            <a:pPr algn="l">
              <a:lnSpc>
                <a:spcPct val="115000"/>
              </a:lnSpc>
              <a:spcAft>
                <a:spcPts val="400"/>
              </a:spcAft>
            </a:pPr>
            <a:r>
              <a:rPr sz="1150" b="0">
                <a:solidFill>
                  <a:srgbClr val="94A3B8"/>
                </a:solidFill>
                <a:latin typeface="Calibri"/>
              </a:rPr>
              <a:t>•  Mengungkap gap: GPT-4 lebih baik di benchmark standar, lebih rentan jailbreak.</a:t>
            </a:r>
          </a:p>
          <a:p>
            <a:pPr algn="l">
              <a:lnSpc>
                <a:spcPct val="115000"/>
              </a:lnSpc>
              <a:spcAft>
                <a:spcPts val="400"/>
              </a:spcAft>
            </a:pPr>
            <a:r>
              <a:rPr sz="1150" b="0">
                <a:solidFill>
                  <a:srgbClr val="94A3B8"/>
                </a:solidFill>
                <a:latin typeface="Calibri"/>
              </a:rPr>
              <a:t>•  Benchmark + dataset dirilis open-source.</a:t>
            </a:r>
          </a:p>
        </p:txBody>
      </p:sp>
      <p:sp>
        <p:nvSpPr>
          <p:cNvPr id="13" name="Rectangle 12"/>
          <p:cNvSpPr/>
          <p:nvPr/>
        </p:nvSpPr>
        <p:spPr>
          <a:xfrm>
            <a:off x="548640"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Jailbreak prompt: toxicity melonjak hingga ~100%.</a:t>
            </a:r>
          </a:p>
          <a:p>
            <a:pPr algn="l">
              <a:lnSpc>
                <a:spcPct val="115000"/>
              </a:lnSpc>
              <a:spcAft>
                <a:spcPts val="400"/>
              </a:spcAft>
            </a:pPr>
            <a:r>
              <a:rPr sz="1150" b="0">
                <a:solidFill>
                  <a:srgbClr val="94A3B8"/>
                </a:solidFill>
                <a:latin typeface="Calibri"/>
              </a:rPr>
              <a:t>•  AdvGLUE++: SemAttack 89,2% ASR (GPT-4); BERT-ATTACK 100% (GPT-3.5).</a:t>
            </a:r>
          </a:p>
          <a:p>
            <a:pPr algn="l">
              <a:lnSpc>
                <a:spcPct val="115000"/>
              </a:lnSpc>
              <a:spcAft>
                <a:spcPts val="400"/>
              </a:spcAft>
            </a:pPr>
            <a:r>
              <a:rPr sz="1150" b="0">
                <a:solidFill>
                  <a:srgbClr val="94A3B8"/>
                </a:solidFill>
                <a:latin typeface="Calibri"/>
              </a:rPr>
              <a:t>•  Privacy: ekstraksi email 100× lebih akurat bila domain diketahui.</a:t>
            </a:r>
          </a:p>
          <a:p>
            <a:pPr algn="l">
              <a:lnSpc>
                <a:spcPct val="115000"/>
              </a:lnSpc>
              <a:spcAft>
                <a:spcPts val="400"/>
              </a:spcAft>
            </a:pPr>
            <a:r>
              <a:rPr sz="1150" b="0">
                <a:solidFill>
                  <a:srgbClr val="94A3B8"/>
                </a:solidFill>
                <a:latin typeface="Calibri"/>
              </a:rPr>
              <a:t>•  Fairness: GPT-4 lebih akurat (85,5%) tapi lebih unfair, muncul trade-off.</a:t>
            </a:r>
          </a:p>
        </p:txBody>
      </p:sp>
      <p:sp>
        <p:nvSpPr>
          <p:cNvPr id="16" name="Rectangle 15"/>
          <p:cNvSpPr/>
          <p:nvPr/>
        </p:nvSpPr>
        <p:spPr>
          <a:xfrm>
            <a:off x="6153912"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evaluasi percakapan multi-turn &amp; 'honeypot conversation'.</a:t>
            </a:r>
          </a:p>
          <a:p>
            <a:pPr algn="l">
              <a:lnSpc>
                <a:spcPct val="115000"/>
              </a:lnSpc>
              <a:spcAft>
                <a:spcPts val="400"/>
              </a:spcAft>
            </a:pPr>
            <a:r>
              <a:rPr sz="1150" b="0">
                <a:solidFill>
                  <a:srgbClr val="94A3B8"/>
                </a:solidFill>
                <a:latin typeface="Calibri"/>
              </a:rPr>
              <a:t>•  Eksplisit: penyelarasan metrik dengan persepsi manusia.</a:t>
            </a:r>
          </a:p>
          <a:p>
            <a:pPr algn="l">
              <a:lnSpc>
                <a:spcPct val="115000"/>
              </a:lnSpc>
              <a:spcAft>
                <a:spcPts val="400"/>
              </a:spcAft>
            </a:pPr>
            <a:r>
              <a:rPr sz="1150" b="0">
                <a:solidFill>
                  <a:srgbClr val="94A3B8"/>
                </a:solidFill>
                <a:latin typeface="Calibri"/>
              </a:rPr>
              <a:t>•  (Inferensi) mekanisme pertahanan anti-jailbreak.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Evaluasi Holistik</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Holistic Evaluation of Language Models  ·  Liang, Bommasani, Lee et al., TMLR 2023</a:t>
            </a:r>
          </a:p>
        </p:txBody>
      </p:sp>
      <p:sp>
        <p:nvSpPr>
          <p:cNvPr id="8" name="TextBox 7"/>
          <p:cNvSpPr txBox="1"/>
          <p:nvPr/>
        </p:nvSpPr>
        <p:spPr>
          <a:xfrm>
            <a:off x="548640" y="1783080"/>
            <a:ext cx="11064240" cy="45720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Gagasan inti: ukur </a:t>
            </a:r>
            <a:r>
              <a:rPr sz="1300" b="1">
                <a:solidFill>
                  <a:srgbClr val="F1F5F9"/>
                </a:solidFill>
                <a:latin typeface="Calibri"/>
              </a:rPr>
              <a:t>banyak metrik sekaligus</a:t>
            </a:r>
            <a:r>
              <a:rPr sz="1300" b="0">
                <a:solidFill>
                  <a:srgbClr val="94A3B8"/>
                </a:solidFill>
                <a:latin typeface="Calibri"/>
              </a:rPr>
              <a:t> untuk tiap skenario, bukan hanya akurasi. 98 dari 112 pasangan terukur (87,5%).</a:t>
            </a:r>
          </a:p>
        </p:txBody>
      </p:sp>
      <p:sp>
        <p:nvSpPr>
          <p:cNvPr id="9" name="Rectangle 8"/>
          <p:cNvSpPr/>
          <p:nvPr/>
        </p:nvSpPr>
        <p:spPr>
          <a:xfrm>
            <a:off x="548640"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Accuracy</a:t>
            </a:r>
          </a:p>
        </p:txBody>
      </p:sp>
      <p:sp>
        <p:nvSpPr>
          <p:cNvPr id="11" name="Rectangle 10"/>
          <p:cNvSpPr/>
          <p:nvPr/>
        </p:nvSpPr>
        <p:spPr>
          <a:xfrm>
            <a:off x="213969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Calibration</a:t>
            </a:r>
          </a:p>
        </p:txBody>
      </p:sp>
      <p:sp>
        <p:nvSpPr>
          <p:cNvPr id="13" name="Rectangle 12"/>
          <p:cNvSpPr/>
          <p:nvPr/>
        </p:nvSpPr>
        <p:spPr>
          <a:xfrm>
            <a:off x="3730752" y="2423160"/>
            <a:ext cx="1517904"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0752" y="2423160"/>
            <a:ext cx="1517904"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Robustness</a:t>
            </a:r>
          </a:p>
        </p:txBody>
      </p:sp>
      <p:sp>
        <p:nvSpPr>
          <p:cNvPr id="15" name="Rectangle 14"/>
          <p:cNvSpPr/>
          <p:nvPr/>
        </p:nvSpPr>
        <p:spPr>
          <a:xfrm>
            <a:off x="5321808"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8"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Fairness</a:t>
            </a:r>
          </a:p>
        </p:txBody>
      </p:sp>
      <p:sp>
        <p:nvSpPr>
          <p:cNvPr id="17" name="Rectangle 16"/>
          <p:cNvSpPr/>
          <p:nvPr/>
        </p:nvSpPr>
        <p:spPr>
          <a:xfrm>
            <a:off x="6912864"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2864"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Bias</a:t>
            </a:r>
          </a:p>
        </p:txBody>
      </p:sp>
      <p:sp>
        <p:nvSpPr>
          <p:cNvPr id="19" name="Rectangle 18"/>
          <p:cNvSpPr/>
          <p:nvPr/>
        </p:nvSpPr>
        <p:spPr>
          <a:xfrm>
            <a:off x="8503920" y="2423160"/>
            <a:ext cx="1517904"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Toxicity</a:t>
            </a:r>
          </a:p>
        </p:txBody>
      </p:sp>
      <p:sp>
        <p:nvSpPr>
          <p:cNvPr id="21" name="Rectangle 20"/>
          <p:cNvSpPr/>
          <p:nvPr/>
        </p:nvSpPr>
        <p:spPr>
          <a:xfrm>
            <a:off x="1009497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9497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Efficiency</a:t>
            </a:r>
          </a:p>
        </p:txBody>
      </p:sp>
      <p:sp>
        <p:nvSpPr>
          <p:cNvPr id="23" name="TextBox 22"/>
          <p:cNvSpPr txBox="1"/>
          <p:nvPr/>
        </p:nvSpPr>
        <p:spPr>
          <a:xfrm>
            <a:off x="548640" y="2971800"/>
            <a:ext cx="11064240" cy="365760"/>
          </a:xfrm>
          <a:prstGeom prst="rect">
            <a:avLst/>
          </a:prstGeom>
          <a:noFill/>
        </p:spPr>
        <p:txBody>
          <a:bodyPr wrap="square" anchor="t">
            <a:spAutoFit/>
          </a:bodyPr>
          <a:lstStyle/>
          <a:p>
            <a:pPr algn="l">
              <a:lnSpc>
                <a:spcPct val="105000"/>
              </a:lnSpc>
              <a:spcAft>
                <a:spcPts val="600"/>
              </a:spcAft>
            </a:pPr>
            <a:r>
              <a:rPr sz="1100" b="0">
                <a:solidFill>
                  <a:srgbClr val="64748B"/>
                </a:solidFill>
                <a:latin typeface="Calibri"/>
              </a:rPr>
              <a:t>16 skenario inti  ×  7 metrik  ·  warna = dimensi SAFE terkait</a:t>
            </a:r>
          </a:p>
        </p:txBody>
      </p:sp>
      <p:sp>
        <p:nvSpPr>
          <p:cNvPr id="24" name="Rectangle 23"/>
          <p:cNvSpPr/>
          <p:nvPr/>
        </p:nvSpPr>
        <p:spPr>
          <a:xfrm>
            <a:off x="548640" y="352044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65760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Robustness (Secure)</a:t>
            </a:r>
          </a:p>
        </p:txBody>
      </p:sp>
      <p:sp>
        <p:nvSpPr>
          <p:cNvPr id="26" name="TextBox 25"/>
          <p:cNvSpPr txBox="1"/>
          <p:nvPr/>
        </p:nvSpPr>
        <p:spPr>
          <a:xfrm>
            <a:off x="777240"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Performa worst-case atas transformasi ringan (mis. typo). Dua sifat: </a:t>
            </a:r>
            <a:r>
              <a:rPr sz="1300" b="1">
                <a:solidFill>
                  <a:srgbClr val="F1F5F9"/>
                </a:solidFill>
                <a:latin typeface="Calibri"/>
              </a:rPr>
              <a:t>invariance</a:t>
            </a:r>
            <a:r>
              <a:rPr sz="1300" b="0">
                <a:solidFill>
                  <a:srgbClr val="94A3B8"/>
                </a:solidFill>
                <a:latin typeface="Calibri"/>
              </a:rPr>
              <a:t> (output tak berubah) &amp; </a:t>
            </a:r>
            <a:r>
              <a:rPr sz="1300" b="1">
                <a:solidFill>
                  <a:srgbClr val="F1F5F9"/>
                </a:solidFill>
                <a:latin typeface="Calibri"/>
              </a:rPr>
              <a:t>equivariance</a:t>
            </a:r>
            <a:r>
              <a:rPr sz="1300" b="0">
                <a:solidFill>
                  <a:srgbClr val="94A3B8"/>
                </a:solidFill>
                <a:latin typeface="Calibri"/>
              </a:rPr>
              <a:t> (output berubah sesuai), menangkap robustness lokal di sekitar tiap input.</a:t>
            </a:r>
          </a:p>
        </p:txBody>
      </p:sp>
      <p:sp>
        <p:nvSpPr>
          <p:cNvPr id="27" name="Rectangle 26"/>
          <p:cNvSpPr/>
          <p:nvPr/>
        </p:nvSpPr>
        <p:spPr>
          <a:xfrm>
            <a:off x="6153912" y="352044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65760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Fairness (Fair)</a:t>
            </a:r>
          </a:p>
        </p:txBody>
      </p:sp>
      <p:sp>
        <p:nvSpPr>
          <p:cNvPr id="29" name="TextBox 28"/>
          <p:cNvSpPr txBox="1"/>
          <p:nvPr/>
        </p:nvSpPr>
        <p:spPr>
          <a:xfrm>
            <a:off x="6382512"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Diukur lewat perturbasi: ubah dialek (SAE→AAE) dan tukar istilah gender, lalu lihat worst-case accuracy. Dipakai karena </a:t>
            </a:r>
            <a:r>
              <a:rPr sz="1300" b="1">
                <a:solidFill>
                  <a:srgbClr val="F1F5F9"/>
                </a:solidFill>
                <a:latin typeface="Calibri"/>
              </a:rPr>
              <a:t>metadata demografi sering tak tersedia</a:t>
            </a:r>
            <a:r>
              <a:rPr sz="1300" b="0">
                <a:solidFill>
                  <a:srgbClr val="94A3B8"/>
                </a:solidFill>
                <a:latin typeface="Calibri"/>
              </a:rPr>
              <a:t>; disparitas langsung diukur bila metadata ada.</a:t>
            </a:r>
          </a:p>
        </p:txBody>
      </p:sp>
      <p:sp>
        <p:nvSpPr>
          <p:cNvPr id="30" name="Rectangle 29"/>
          <p:cNvSpPr/>
          <p:nvPr/>
        </p:nvSpPr>
        <p:spPr>
          <a:xfrm>
            <a:off x="548640" y="6053328"/>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053328"/>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seperti rapor sekolah dengan banyak mata pelajaran. HELM memberi nilai 7 ukuran untuk 30 model AI agar bisa dibandingkan secara adil.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Evaluasi holistik multi-metrik: 7 metrik × 16 core scenarios.</a:t>
            </a:r>
          </a:p>
          <a:p>
            <a:pPr algn="l">
              <a:lnSpc>
                <a:spcPct val="115000"/>
              </a:lnSpc>
              <a:spcAft>
                <a:spcPts val="400"/>
              </a:spcAft>
            </a:pPr>
            <a:r>
              <a:rPr sz="1150" b="0">
                <a:solidFill>
                  <a:srgbClr val="94A3B8"/>
                </a:solidFill>
                <a:latin typeface="Calibri"/>
              </a:rPr>
              <a:t>•  Robustness: invariance (typo) &amp; equivariance (contrast set).</a:t>
            </a:r>
          </a:p>
          <a:p>
            <a:pPr algn="l">
              <a:lnSpc>
                <a:spcPct val="115000"/>
              </a:lnSpc>
              <a:spcAft>
                <a:spcPts val="400"/>
              </a:spcAft>
            </a:pPr>
            <a:r>
              <a:rPr sz="1150" b="0">
                <a:solidFill>
                  <a:srgbClr val="94A3B8"/>
                </a:solidFill>
                <a:latin typeface="Calibri"/>
              </a:rPr>
              <a:t>•  Fairness: counterfactual (dialek SAE→AAE, gender) + disparitas demografi.</a:t>
            </a:r>
          </a:p>
        </p:txBody>
      </p:sp>
      <p:sp>
        <p:nvSpPr>
          <p:cNvPr id="10" name="Rectangle 9"/>
          <p:cNvSpPr/>
          <p:nvPr/>
        </p:nvSpPr>
        <p:spPr>
          <a:xfrm>
            <a:off x="6153912"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Taksonomi eksplisit ruang desain (scenario × metrik): jelas yang diukur &amp; yang hilang.</a:t>
            </a:r>
          </a:p>
          <a:p>
            <a:pPr algn="l">
              <a:lnSpc>
                <a:spcPct val="115000"/>
              </a:lnSpc>
              <a:spcAft>
                <a:spcPts val="400"/>
              </a:spcAft>
            </a:pPr>
            <a:r>
              <a:rPr sz="1150" b="0">
                <a:solidFill>
                  <a:srgbClr val="94A3B8"/>
                </a:solidFill>
                <a:latin typeface="Calibri"/>
              </a:rPr>
              <a:t>•  Standardisasi 30 model dari 12 organisasi; coverage 17,9% → 96,0%.</a:t>
            </a:r>
          </a:p>
          <a:p>
            <a:pPr algn="l">
              <a:lnSpc>
                <a:spcPct val="115000"/>
              </a:lnSpc>
              <a:spcAft>
                <a:spcPts val="400"/>
              </a:spcAft>
            </a:pPr>
            <a:r>
              <a:rPr sz="1150" b="0">
                <a:solidFill>
                  <a:srgbClr val="94A3B8"/>
                </a:solidFill>
                <a:latin typeface="Calibri"/>
              </a:rPr>
              <a:t>•  Living benchmark; prompt &amp; hasil mentah dirilis publik.</a:t>
            </a:r>
          </a:p>
        </p:txBody>
      </p:sp>
      <p:sp>
        <p:nvSpPr>
          <p:cNvPr id="13" name="Rectangle 12"/>
          <p:cNvSpPr/>
          <p:nvPr/>
        </p:nvSpPr>
        <p:spPr>
          <a:xfrm>
            <a:off x="548640"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98 dari 112 pasangan (scenario, metrik) terukur = 87,5%.</a:t>
            </a:r>
          </a:p>
          <a:p>
            <a:pPr algn="l">
              <a:lnSpc>
                <a:spcPct val="115000"/>
              </a:lnSpc>
              <a:spcAft>
                <a:spcPts val="400"/>
              </a:spcAft>
            </a:pPr>
            <a:r>
              <a:rPr sz="1150" b="0">
                <a:solidFill>
                  <a:srgbClr val="94A3B8"/>
                </a:solidFill>
                <a:latin typeface="Calibri"/>
              </a:rPr>
              <a:t>•  Instruction-tuning &gt; skala: model 52B masuk top-3, kalahkan 530B.</a:t>
            </a:r>
          </a:p>
          <a:p>
            <a:pPr algn="l">
              <a:lnSpc>
                <a:spcPct val="115000"/>
              </a:lnSpc>
              <a:spcAft>
                <a:spcPts val="400"/>
              </a:spcAft>
            </a:pPr>
            <a:r>
              <a:rPr sz="1150" b="0">
                <a:solidFill>
                  <a:srgbClr val="94A3B8"/>
                </a:solidFill>
                <a:latin typeface="Calibri"/>
              </a:rPr>
              <a:t>•  Perturbasi: TNLG v2 turun 72,6% → 38,9% (NarrativeQA).</a:t>
            </a:r>
          </a:p>
          <a:p>
            <a:pPr algn="l">
              <a:lnSpc>
                <a:spcPct val="115000"/>
              </a:lnSpc>
              <a:spcAft>
                <a:spcPts val="400"/>
              </a:spcAft>
            </a:pPr>
            <a:r>
              <a:rPr sz="1150" b="0">
                <a:solidFill>
                  <a:srgbClr val="94A3B8"/>
                </a:solidFill>
                <a:latin typeface="Calibri"/>
              </a:rPr>
              <a:t>•  Dialek: OPT-175B 1,506 → 2,114 bits/byte (English → AAE).</a:t>
            </a:r>
          </a:p>
        </p:txBody>
      </p:sp>
      <p:sp>
        <p:nvSpPr>
          <p:cNvPr id="16" name="Rectangle 15"/>
          <p:cNvSpPr/>
          <p:nvPr/>
        </p:nvSpPr>
        <p:spPr>
          <a:xfrm>
            <a:off x="6153912"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kerangka agregasi skor &amp; surrogate intrinsik (perplexity).</a:t>
            </a:r>
          </a:p>
          <a:p>
            <a:pPr algn="l">
              <a:lnSpc>
                <a:spcPct val="115000"/>
              </a:lnSpc>
              <a:spcAft>
                <a:spcPts val="400"/>
              </a:spcAft>
            </a:pPr>
            <a:r>
              <a:rPr sz="1150" b="0">
                <a:solidFill>
                  <a:srgbClr val="94A3B8"/>
                </a:solidFill>
                <a:latin typeface="Calibri"/>
              </a:rPr>
              <a:t>•  Eksplisit: uji signifikansi multi-seed.</a:t>
            </a:r>
          </a:p>
          <a:p>
            <a:pPr algn="l">
              <a:lnSpc>
                <a:spcPct val="115000"/>
              </a:lnSpc>
              <a:spcAft>
                <a:spcPts val="400"/>
              </a:spcAft>
            </a:pPr>
            <a:r>
              <a:rPr sz="1150" b="0">
                <a:solidFill>
                  <a:srgbClr val="94A3B8"/>
                </a:solidFill>
                <a:latin typeface="Calibri"/>
              </a:rPr>
              <a:t>•  (Limitasi) cakupan dialek non-English, tugas interaktif &amp; multimodal.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SINTESIS</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Peta 3 Paper × 4 Dimensi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2918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918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PAPER</a:t>
            </a:r>
          </a:p>
        </p:txBody>
      </p:sp>
      <p:sp>
        <p:nvSpPr>
          <p:cNvPr id="9" name="Rectangle 8"/>
          <p:cNvSpPr/>
          <p:nvPr/>
        </p:nvSpPr>
        <p:spPr>
          <a:xfrm>
            <a:off x="388620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43F5E"/>
                </a:solidFill>
                <a:latin typeface="Calibri"/>
              </a:rPr>
              <a:t>Secure</a:t>
            </a:r>
          </a:p>
        </p:txBody>
      </p:sp>
      <p:sp>
        <p:nvSpPr>
          <p:cNvPr id="11" name="Rectangle 10"/>
          <p:cNvSpPr/>
          <p:nvPr/>
        </p:nvSpPr>
        <p:spPr>
          <a:xfrm>
            <a:off x="5852160" y="1463040"/>
            <a:ext cx="210312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0" y="1463040"/>
            <a:ext cx="2103120" cy="502920"/>
          </a:xfrm>
          <a:prstGeom prst="rect">
            <a:avLst/>
          </a:prstGeom>
          <a:noFill/>
        </p:spPr>
        <p:txBody>
          <a:bodyPr wrap="square" anchor="ctr">
            <a:spAutoFit/>
          </a:bodyPr>
          <a:lstStyle/>
          <a:p>
            <a:pPr algn="ctr">
              <a:lnSpc>
                <a:spcPct val="105000"/>
              </a:lnSpc>
              <a:spcAft>
                <a:spcPts val="600"/>
              </a:spcAft>
            </a:pPr>
            <a:r>
              <a:rPr sz="1200" b="1">
                <a:solidFill>
                  <a:srgbClr val="60A5FA"/>
                </a:solidFill>
                <a:latin typeface="Calibri"/>
              </a:rPr>
              <a:t>Accountable</a:t>
            </a:r>
          </a:p>
        </p:txBody>
      </p:sp>
      <p:sp>
        <p:nvSpPr>
          <p:cNvPr id="13" name="Rectangle 12"/>
          <p:cNvSpPr/>
          <p:nvPr/>
        </p:nvSpPr>
        <p:spPr>
          <a:xfrm>
            <a:off x="8001000" y="1463040"/>
            <a:ext cx="182880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0" y="1463040"/>
            <a:ext cx="1828800" cy="502920"/>
          </a:xfrm>
          <a:prstGeom prst="rect">
            <a:avLst/>
          </a:prstGeom>
          <a:noFill/>
        </p:spPr>
        <p:txBody>
          <a:bodyPr wrap="square" anchor="ctr">
            <a:spAutoFit/>
          </a:bodyPr>
          <a:lstStyle/>
          <a:p>
            <a:pPr algn="ctr">
              <a:lnSpc>
                <a:spcPct val="105000"/>
              </a:lnSpc>
              <a:spcAft>
                <a:spcPts val="600"/>
              </a:spcAft>
            </a:pPr>
            <a:r>
              <a:rPr sz="1200" b="1">
                <a:solidFill>
                  <a:srgbClr val="34D399"/>
                </a:solidFill>
                <a:latin typeface="Calibri"/>
              </a:rPr>
              <a:t>Fair</a:t>
            </a:r>
          </a:p>
        </p:txBody>
      </p:sp>
      <p:sp>
        <p:nvSpPr>
          <p:cNvPr id="15" name="Rectangle 14"/>
          <p:cNvSpPr/>
          <p:nvPr/>
        </p:nvSpPr>
        <p:spPr>
          <a:xfrm>
            <a:off x="987552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BBF24"/>
                </a:solidFill>
                <a:latin typeface="Calibri"/>
              </a:rPr>
              <a:t>Explainable</a:t>
            </a:r>
          </a:p>
        </p:txBody>
      </p:sp>
      <p:sp>
        <p:nvSpPr>
          <p:cNvPr id="17" name="Rectangle 16"/>
          <p:cNvSpPr/>
          <p:nvPr/>
        </p:nvSpPr>
        <p:spPr>
          <a:xfrm>
            <a:off x="548640" y="2011680"/>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011680"/>
            <a:ext cx="3108960" cy="640080"/>
          </a:xfrm>
          <a:prstGeom prst="rect">
            <a:avLst/>
          </a:prstGeom>
          <a:noFill/>
        </p:spPr>
        <p:txBody>
          <a:bodyPr wrap="square" anchor="ctr">
            <a:spAutoFit/>
          </a:bodyPr>
          <a:lstStyle/>
          <a:p>
            <a:pPr algn="l">
              <a:lnSpc>
                <a:spcPct val="105000"/>
              </a:lnSpc>
              <a:spcAft>
                <a:spcPts val="600"/>
              </a:spcAft>
            </a:pPr>
            <a:r>
              <a:rPr sz="1250" b="1">
                <a:solidFill>
                  <a:srgbClr val="34D399"/>
                </a:solidFill>
                <a:latin typeface="Calibri"/>
              </a:rPr>
              <a:t>SoFCLR (SSL)</a:t>
            </a:r>
          </a:p>
        </p:txBody>
      </p:sp>
      <p:sp>
        <p:nvSpPr>
          <p:cNvPr id="19" name="Rectangle 18"/>
          <p:cNvSpPr/>
          <p:nvPr/>
        </p:nvSpPr>
        <p:spPr>
          <a:xfrm>
            <a:off x="388620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2011680"/>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1" name="Rectangle 20"/>
          <p:cNvSpPr/>
          <p:nvPr/>
        </p:nvSpPr>
        <p:spPr>
          <a:xfrm>
            <a:off x="5852160" y="2011680"/>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2011680"/>
            <a:ext cx="210312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3" name="Rectangle 22"/>
          <p:cNvSpPr/>
          <p:nvPr/>
        </p:nvSpPr>
        <p:spPr>
          <a:xfrm>
            <a:off x="8001000" y="2011680"/>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011680"/>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8 notasi</a:t>
            </a:r>
          </a:p>
        </p:txBody>
      </p:sp>
      <p:sp>
        <p:nvSpPr>
          <p:cNvPr id="25" name="Rectangle 24"/>
          <p:cNvSpPr/>
          <p:nvPr/>
        </p:nvSpPr>
        <p:spPr>
          <a:xfrm>
            <a:off x="987552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0" y="2011680"/>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(parsial)</a:t>
            </a:r>
          </a:p>
        </p:txBody>
      </p:sp>
      <p:sp>
        <p:nvSpPr>
          <p:cNvPr id="27" name="Rectangle 26"/>
          <p:cNvSpPr/>
          <p:nvPr/>
        </p:nvSpPr>
        <p:spPr>
          <a:xfrm>
            <a:off x="548640" y="2724912"/>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2724912"/>
            <a:ext cx="3108960" cy="640080"/>
          </a:xfrm>
          <a:prstGeom prst="rect">
            <a:avLst/>
          </a:prstGeom>
          <a:noFill/>
        </p:spPr>
        <p:txBody>
          <a:bodyPr wrap="square" anchor="ctr">
            <a:spAutoFit/>
          </a:bodyPr>
          <a:lstStyle/>
          <a:p>
            <a:pPr algn="l">
              <a:lnSpc>
                <a:spcPct val="105000"/>
              </a:lnSpc>
              <a:spcAft>
                <a:spcPts val="600"/>
              </a:spcAft>
            </a:pPr>
            <a:r>
              <a:rPr sz="1250" b="1">
                <a:solidFill>
                  <a:srgbClr val="F43F5E"/>
                </a:solidFill>
                <a:latin typeface="Calibri"/>
              </a:rPr>
              <a:t>DecodingTrust (LLM)</a:t>
            </a:r>
          </a:p>
        </p:txBody>
      </p:sp>
      <p:sp>
        <p:nvSpPr>
          <p:cNvPr id="29" name="Rectangle 28"/>
          <p:cNvSpPr/>
          <p:nvPr/>
        </p:nvSpPr>
        <p:spPr>
          <a:xfrm>
            <a:off x="388620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2724912"/>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AdvGLUE++ ASR</a:t>
            </a:r>
          </a:p>
        </p:txBody>
      </p:sp>
      <p:sp>
        <p:nvSpPr>
          <p:cNvPr id="31" name="Rectangle 30"/>
          <p:cNvSpPr/>
          <p:nvPr/>
        </p:nvSpPr>
        <p:spPr>
          <a:xfrm>
            <a:off x="5852160" y="2724912"/>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0" y="2724912"/>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etika+toxic</a:t>
            </a:r>
          </a:p>
        </p:txBody>
      </p:sp>
      <p:sp>
        <p:nvSpPr>
          <p:cNvPr id="33" name="Rectangle 32"/>
          <p:cNvSpPr/>
          <p:nvPr/>
        </p:nvSpPr>
        <p:spPr>
          <a:xfrm>
            <a:off x="8001000" y="2724912"/>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2724912"/>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base-rate</a:t>
            </a:r>
          </a:p>
        </p:txBody>
      </p:sp>
      <p:sp>
        <p:nvSpPr>
          <p:cNvPr id="35" name="Rectangle 34"/>
          <p:cNvSpPr/>
          <p:nvPr/>
        </p:nvSpPr>
        <p:spPr>
          <a:xfrm>
            <a:off x="987552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0" y="2724912"/>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37" name="Rectangle 36"/>
          <p:cNvSpPr/>
          <p:nvPr/>
        </p:nvSpPr>
        <p:spPr>
          <a:xfrm>
            <a:off x="548640" y="3438144"/>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438144"/>
            <a:ext cx="3108960" cy="640080"/>
          </a:xfrm>
          <a:prstGeom prst="rect">
            <a:avLst/>
          </a:prstGeom>
          <a:noFill/>
        </p:spPr>
        <p:txBody>
          <a:bodyPr wrap="square" anchor="ctr">
            <a:spAutoFit/>
          </a:bodyPr>
          <a:lstStyle/>
          <a:p>
            <a:pPr algn="l">
              <a:lnSpc>
                <a:spcPct val="105000"/>
              </a:lnSpc>
              <a:spcAft>
                <a:spcPts val="600"/>
              </a:spcAft>
            </a:pPr>
            <a:r>
              <a:rPr sz="1250" b="1">
                <a:solidFill>
                  <a:srgbClr val="60A5FA"/>
                </a:solidFill>
                <a:latin typeface="Calibri"/>
              </a:rPr>
              <a:t>HELM (LLM)</a:t>
            </a:r>
          </a:p>
        </p:txBody>
      </p:sp>
      <p:sp>
        <p:nvSpPr>
          <p:cNvPr id="39" name="Rectangle 38"/>
          <p:cNvSpPr/>
          <p:nvPr/>
        </p:nvSpPr>
        <p:spPr>
          <a:xfrm>
            <a:off x="388620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886200" y="3438144"/>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worst-case</a:t>
            </a:r>
          </a:p>
        </p:txBody>
      </p:sp>
      <p:sp>
        <p:nvSpPr>
          <p:cNvPr id="41" name="Rectangle 40"/>
          <p:cNvSpPr/>
          <p:nvPr/>
        </p:nvSpPr>
        <p:spPr>
          <a:xfrm>
            <a:off x="5852160" y="3438144"/>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3438144"/>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toxic+calib</a:t>
            </a:r>
          </a:p>
        </p:txBody>
      </p:sp>
      <p:sp>
        <p:nvSpPr>
          <p:cNvPr id="43" name="Rectangle 42"/>
          <p:cNvSpPr/>
          <p:nvPr/>
        </p:nvSpPr>
        <p:spPr>
          <a:xfrm>
            <a:off x="8001000" y="3438144"/>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0" y="3438144"/>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perturbasi</a:t>
            </a:r>
          </a:p>
        </p:txBody>
      </p:sp>
      <p:sp>
        <p:nvSpPr>
          <p:cNvPr id="45" name="Rectangle 44"/>
          <p:cNvSpPr/>
          <p:nvPr/>
        </p:nvSpPr>
        <p:spPr>
          <a:xfrm>
            <a:off x="987552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875520" y="3438144"/>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47" name="Rectangle 46"/>
          <p:cNvSpPr/>
          <p:nvPr/>
        </p:nvSpPr>
        <p:spPr>
          <a:xfrm>
            <a:off x="548640" y="4434840"/>
            <a:ext cx="11091672" cy="16916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BBF24"/>
                </a:solidFill>
                <a:latin typeface="Calibri"/>
              </a:rPr>
              <a:t>Yang belum tertutup.  </a:t>
            </a:r>
            <a:r>
              <a:rPr sz="1350" b="0">
                <a:solidFill>
                  <a:srgbClr val="F1F5F9"/>
                </a:solidFill>
                <a:latin typeface="Calibri"/>
              </a:rPr>
              <a:t>Explainable dan Accountable masih lemah: hanya diproksikan lewat etika/toxicity, belum ada metrik audit-trail / model-card yang baku. </a:t>
            </a:r>
          </a:p>
          <a:p>
            <a:pPr algn="l">
              <a:lnSpc>
                <a:spcPct val="120000"/>
              </a:lnSpc>
              <a:spcAft>
                <a:spcPts val="600"/>
              </a:spcAft>
            </a:pPr>
            <a:r>
              <a:rPr sz="1350" b="0">
                <a:solidFill>
                  <a:srgbClr val="94A3B8"/>
                </a:solidFill>
                <a:latin typeface="Calibri"/>
              </a:rPr>
              <a:t>AutoML tidak punya satu pun paper metrik SAFE yang lolos verifikasi. Ini gap riset nyata, bukan sekadar belum sempat dicari.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PENUTUP</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Poin Penutup</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4592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1</a:t>
            </a:r>
          </a:p>
        </p:txBody>
      </p:sp>
      <p:sp>
        <p:nvSpPr>
          <p:cNvPr id="9" name="TextBox 8"/>
          <p:cNvSpPr txBox="1"/>
          <p:nvPr/>
        </p:nvSpPr>
        <p:spPr>
          <a:xfrm>
            <a:off x="1828800" y="178308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Metrik mengikuti paradigma</a:t>
            </a:r>
          </a:p>
          <a:p>
            <a:pPr algn="l">
              <a:lnSpc>
                <a:spcPct val="105000"/>
              </a:lnSpc>
              <a:spcAft>
                <a:spcPts val="300"/>
              </a:spcAft>
            </a:pPr>
            <a:r>
              <a:rPr sz="1350" b="0">
                <a:solidFill>
                  <a:srgbClr val="94A3B8"/>
                </a:solidFill>
                <a:latin typeface="Calibri"/>
              </a:rPr>
              <a:t>Tiap arsitektur butuh metrik yang disesuaikan: SSL diukur di tahap representasi (tanpa label), LLM diukur lewat benchmark perilaku output.</a:t>
            </a:r>
          </a:p>
        </p:txBody>
      </p:sp>
      <p:sp>
        <p:nvSpPr>
          <p:cNvPr id="10" name="Rectangle 9"/>
          <p:cNvSpPr/>
          <p:nvPr/>
        </p:nvSpPr>
        <p:spPr>
          <a:xfrm>
            <a:off x="548640" y="297180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7180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2</a:t>
            </a:r>
          </a:p>
        </p:txBody>
      </p:sp>
      <p:sp>
        <p:nvSpPr>
          <p:cNvPr id="12" name="TextBox 11"/>
          <p:cNvSpPr txBox="1"/>
          <p:nvPr/>
        </p:nvSpPr>
        <p:spPr>
          <a:xfrm>
            <a:off x="1828800" y="310896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Benchmark menyatukan dimensi</a:t>
            </a:r>
          </a:p>
          <a:p>
            <a:pPr algn="l">
              <a:lnSpc>
                <a:spcPct val="105000"/>
              </a:lnSpc>
              <a:spcAft>
                <a:spcPts val="300"/>
              </a:spcAft>
            </a:pPr>
            <a:r>
              <a:rPr sz="1350" b="0">
                <a:solidFill>
                  <a:srgbClr val="94A3B8"/>
                </a:solidFill>
                <a:latin typeface="Calibri"/>
              </a:rPr>
              <a:t>DecodingTrust &amp; HELM menunjukkan SAFE bisa diukur serempak dalam satu kerangka, bukan empat pengujian terpisah.</a:t>
            </a:r>
          </a:p>
        </p:txBody>
      </p:sp>
      <p:sp>
        <p:nvSpPr>
          <p:cNvPr id="13" name="Rectangle 12"/>
          <p:cNvSpPr/>
          <p:nvPr/>
        </p:nvSpPr>
        <p:spPr>
          <a:xfrm>
            <a:off x="548640" y="429768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9768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3</a:t>
            </a:r>
          </a:p>
        </p:txBody>
      </p:sp>
      <p:sp>
        <p:nvSpPr>
          <p:cNvPr id="15" name="TextBox 14"/>
          <p:cNvSpPr txBox="1"/>
          <p:nvPr/>
        </p:nvSpPr>
        <p:spPr>
          <a:xfrm>
            <a:off x="1828800" y="443484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Selalu ada trade-off</a:t>
            </a:r>
          </a:p>
          <a:p>
            <a:pPr algn="l">
              <a:lnSpc>
                <a:spcPct val="105000"/>
              </a:lnSpc>
              <a:spcAft>
                <a:spcPts val="300"/>
              </a:spcAft>
            </a:pPr>
            <a:r>
              <a:rPr sz="1350" b="0">
                <a:solidFill>
                  <a:srgbClr val="94A3B8"/>
                </a:solidFill>
                <a:latin typeface="Calibri"/>
              </a:rPr>
              <a:t>Akurasi vs fairness, robustness vs efisiensi. Metrik yang baik justru membuat trade-off itu terlihat dan bisa dikelola.</a:t>
            </a:r>
          </a:p>
        </p:txBody>
      </p:sp>
      <p:sp>
        <p:nvSpPr>
          <p:cNvPr id="16" name="TextBox 15"/>
          <p:cNvSpPr txBox="1"/>
          <p:nvPr/>
        </p:nvSpPr>
        <p:spPr>
          <a:xfrm>
            <a:off x="548640" y="5989320"/>
            <a:ext cx="11064240" cy="457200"/>
          </a:xfrm>
          <a:prstGeom prst="rect">
            <a:avLst/>
          </a:prstGeom>
          <a:noFill/>
        </p:spPr>
        <p:txBody>
          <a:bodyPr wrap="square" anchor="t">
            <a:spAutoFit/>
          </a:bodyPr>
          <a:lstStyle/>
          <a:p>
            <a:pPr algn="ctr">
              <a:lnSpc>
                <a:spcPct val="105000"/>
              </a:lnSpc>
              <a:spcAft>
                <a:spcPts val="600"/>
              </a:spcAft>
            </a:pPr>
            <a:r>
              <a:rPr sz="1400" b="1">
                <a:solidFill>
                  <a:srgbClr val="C7D2FE"/>
                </a:solidFill>
                <a:latin typeface="Calibri"/>
              </a:rPr>
              <a:t>Ketiga paper menyediakan metrik yang bisa langsung dipakai untuk menguji SAFE pada model nyata.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REFERENSI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3 Paper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73152"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914400" cy="1371600"/>
          </a:xfrm>
          <a:prstGeom prst="rect">
            <a:avLst/>
          </a:prstGeom>
          <a:noFill/>
        </p:spPr>
        <p:txBody>
          <a:bodyPr wrap="square" anchor="ctr">
            <a:spAutoFit/>
          </a:bodyPr>
          <a:lstStyle/>
          <a:p>
            <a:pPr algn="l">
              <a:lnSpc>
                <a:spcPct val="105000"/>
              </a:lnSpc>
              <a:spcAft>
                <a:spcPts val="600"/>
              </a:spcAft>
            </a:pPr>
            <a:r>
              <a:rPr sz="2200" b="1">
                <a:solidFill>
                  <a:srgbClr val="34D399"/>
                </a:solidFill>
                <a:latin typeface="Calibri"/>
              </a:rPr>
              <a:t>[1]</a:t>
            </a:r>
          </a:p>
        </p:txBody>
      </p:sp>
      <p:sp>
        <p:nvSpPr>
          <p:cNvPr id="10" name="TextBox 9"/>
          <p:cNvSpPr txBox="1"/>
          <p:nvPr/>
        </p:nvSpPr>
        <p:spPr>
          <a:xfrm>
            <a:off x="1645920" y="169163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Provable Optimization for Adversarial Fair Self-supervised Contrastive Learning</a:t>
            </a:r>
          </a:p>
          <a:p>
            <a:pPr algn="l">
              <a:lnSpc>
                <a:spcPct val="105000"/>
              </a:lnSpc>
              <a:spcAft>
                <a:spcPts val="300"/>
              </a:spcAft>
            </a:pPr>
            <a:r>
              <a:rPr sz="1200" b="0">
                <a:solidFill>
                  <a:srgbClr val="C7D2FE"/>
                </a:solidFill>
                <a:latin typeface="Calibri"/>
              </a:rPr>
              <a:t>Qi, Hu, Lin &amp; Yang · 2024 · arXiv:2406.05686</a:t>
            </a:r>
          </a:p>
          <a:p>
            <a:pPr algn="l">
              <a:lnSpc>
                <a:spcPct val="105000"/>
              </a:lnSpc>
              <a:spcAft>
                <a:spcPts val="300"/>
              </a:spcAft>
            </a:pPr>
            <a:r>
              <a:rPr sz="1200" b="0">
                <a:solidFill>
                  <a:srgbClr val="94A3B8"/>
                </a:solidFill>
                <a:latin typeface="Calibri"/>
              </a:rPr>
              <a:t>Paradigma SSL, dimensi Fairness. Metrik: 8 notasi fairness; metode minimax adversarial.</a:t>
            </a:r>
          </a:p>
        </p:txBody>
      </p:sp>
      <p:sp>
        <p:nvSpPr>
          <p:cNvPr id="11" name="Rectangle 10"/>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063239"/>
            <a:ext cx="73152" cy="13716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39"/>
            <a:ext cx="914400" cy="1371600"/>
          </a:xfrm>
          <a:prstGeom prst="rect">
            <a:avLst/>
          </a:prstGeom>
          <a:noFill/>
        </p:spPr>
        <p:txBody>
          <a:bodyPr wrap="square" anchor="ctr">
            <a:spAutoFit/>
          </a:bodyPr>
          <a:lstStyle/>
          <a:p>
            <a:pPr algn="l">
              <a:lnSpc>
                <a:spcPct val="105000"/>
              </a:lnSpc>
              <a:spcAft>
                <a:spcPts val="600"/>
              </a:spcAft>
            </a:pPr>
            <a:r>
              <a:rPr sz="2200" b="1">
                <a:solidFill>
                  <a:srgbClr val="F43F5E"/>
                </a:solidFill>
                <a:latin typeface="Calibri"/>
              </a:rPr>
              <a:t>[2]</a:t>
            </a:r>
          </a:p>
        </p:txBody>
      </p:sp>
      <p:sp>
        <p:nvSpPr>
          <p:cNvPr id="14" name="TextBox 13"/>
          <p:cNvSpPr txBox="1"/>
          <p:nvPr/>
        </p:nvSpPr>
        <p:spPr>
          <a:xfrm>
            <a:off x="1645920" y="320039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DecodingTrust: A Comprehensive Assessment of Trustworthiness in GPT Models</a:t>
            </a:r>
          </a:p>
          <a:p>
            <a:pPr algn="l">
              <a:lnSpc>
                <a:spcPct val="105000"/>
              </a:lnSpc>
              <a:spcAft>
                <a:spcPts val="300"/>
              </a:spcAft>
            </a:pPr>
            <a:r>
              <a:rPr sz="1200" b="0">
                <a:solidFill>
                  <a:srgbClr val="C7D2FE"/>
                </a:solidFill>
                <a:latin typeface="Calibri"/>
              </a:rPr>
              <a:t>Wang et al. · NeurIPS 2023 (Outstanding Paper) · arXiv:2306.11698</a:t>
            </a:r>
          </a:p>
          <a:p>
            <a:pPr algn="l">
              <a:lnSpc>
                <a:spcPct val="105000"/>
              </a:lnSpc>
              <a:spcAft>
                <a:spcPts val="300"/>
              </a:spcAft>
            </a:pPr>
            <a:r>
              <a:rPr sz="1200" b="0">
                <a:solidFill>
                  <a:srgbClr val="94A3B8"/>
                </a:solidFill>
                <a:latin typeface="Calibri"/>
              </a:rPr>
              <a:t>LLM, dimensi Secure/Fair/Accountable. 8 perspektif; AdvGLUE++ ASR hingga 89,2%.</a:t>
            </a:r>
          </a:p>
        </p:txBody>
      </p:sp>
      <p:sp>
        <p:nvSpPr>
          <p:cNvPr id="15" name="Rectangle 14"/>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572000"/>
            <a:ext cx="73152" cy="13716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72000"/>
            <a:ext cx="914400" cy="1371600"/>
          </a:xfrm>
          <a:prstGeom prst="rect">
            <a:avLst/>
          </a:prstGeom>
          <a:noFill/>
        </p:spPr>
        <p:txBody>
          <a:bodyPr wrap="square" anchor="ctr">
            <a:spAutoFit/>
          </a:bodyPr>
          <a:lstStyle/>
          <a:p>
            <a:pPr algn="l">
              <a:lnSpc>
                <a:spcPct val="105000"/>
              </a:lnSpc>
              <a:spcAft>
                <a:spcPts val="600"/>
              </a:spcAft>
            </a:pPr>
            <a:r>
              <a:rPr sz="2200" b="1">
                <a:solidFill>
                  <a:srgbClr val="60A5FA"/>
                </a:solidFill>
                <a:latin typeface="Calibri"/>
              </a:rPr>
              <a:t>[3]</a:t>
            </a:r>
          </a:p>
        </p:txBody>
      </p:sp>
      <p:sp>
        <p:nvSpPr>
          <p:cNvPr id="18" name="TextBox 17"/>
          <p:cNvSpPr txBox="1"/>
          <p:nvPr/>
        </p:nvSpPr>
        <p:spPr>
          <a:xfrm>
            <a:off x="1645920" y="4709160"/>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Holistic Evaluation of Language Models (HELM)</a:t>
            </a:r>
          </a:p>
          <a:p>
            <a:pPr algn="l">
              <a:lnSpc>
                <a:spcPct val="105000"/>
              </a:lnSpc>
              <a:spcAft>
                <a:spcPts val="300"/>
              </a:spcAft>
            </a:pPr>
            <a:r>
              <a:rPr sz="1200" b="0">
                <a:solidFill>
                  <a:srgbClr val="C7D2FE"/>
                </a:solidFill>
                <a:latin typeface="Calibri"/>
              </a:rPr>
              <a:t>Liang, Bommasani, Lee et al. · TMLR 2023 · arXiv:2211.09110</a:t>
            </a:r>
          </a:p>
          <a:p>
            <a:pPr algn="l">
              <a:lnSpc>
                <a:spcPct val="105000"/>
              </a:lnSpc>
              <a:spcAft>
                <a:spcPts val="300"/>
              </a:spcAft>
            </a:pPr>
            <a:r>
              <a:rPr sz="1200" b="0">
                <a:solidFill>
                  <a:srgbClr val="94A3B8"/>
                </a:solidFill>
                <a:latin typeface="Calibri"/>
              </a:rPr>
              <a:t>LLM, evaluasi multi-metrik. 7 metrik × 16 skenario; robustness &amp; fairness worst-case.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